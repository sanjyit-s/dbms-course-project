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6179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222B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98480" y="4206240"/>
            <a:ext cx="2926080" cy="2926080"/>
          </a:xfrm>
          <a:prstGeom prst="ellipse">
            <a:avLst/>
          </a:prstGeom>
          <a:solidFill>
            <a:srgbClr val="222B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(Optimistic)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Concurrency Control Protocols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77240" y="4160520"/>
            <a:ext cx="201168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3152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the Best, Verify Before You Commit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— Transaction Management &amp; Concurrency Control  |  CSE (AI &amp; ML)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“Optimistic” Concurrency Control?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and timestamp-ordering both check for conflicts as transactions run — even when conflicts are rare. Validation protocols take a different bet.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566160" cy="3474720"/>
          </a:xfrm>
          <a:prstGeom prst="roundRect">
            <a:avLst>
              <a:gd name="adj" fmla="val 2632"/>
            </a:avLst>
          </a:prstGeom>
          <a:solidFill>
            <a:srgbClr val="F5F8F8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965960" y="256032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96596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29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2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Contention Assumption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1148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transactions in many workloads don't actually conflict with each other.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566160" cy="3474720"/>
          </a:xfrm>
          <a:prstGeom prst="roundRect">
            <a:avLst>
              <a:gd name="adj" fmla="val 2632"/>
            </a:avLst>
          </a:prstGeom>
          <a:solidFill>
            <a:srgbClr val="F5F8F8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760720" y="256032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760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429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2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First, Check Later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41148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transactions read and compute freely; only check for conflicts right before commit.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138160" y="2286000"/>
            <a:ext cx="3566160" cy="3474720"/>
          </a:xfrm>
          <a:prstGeom prst="roundRect">
            <a:avLst>
              <a:gd name="adj" fmla="val 2632"/>
            </a:avLst>
          </a:prstGeom>
          <a:solidFill>
            <a:srgbClr val="F5F8F8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555480" y="256032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955548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429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2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Overhead Per Access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1148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the cost of acquiring/releasing locks or timestamp bookkeeping on every read/write.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it “optimistic” — no blocking while running, but a strict validation gate before commit.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Validation-Based Concurrency Control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STRUCTURE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Phases of Execution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F5F8F8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920240" y="18288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92024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Phase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375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reads values of data items and stores them in local variables. All writes are made to local temporary copies, not the actual database.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 rot="5400000">
            <a:off x="4187952" y="3383280"/>
            <a:ext cx="256032" cy="274320"/>
          </a:xfrm>
          <a:prstGeom prst="triangl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343400" y="155448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36454F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715000" y="182880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71500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Phase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3375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E4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commit, the system checks whether Ti's read/write set conflicts with concurrently executing transactions.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 rot="5400000">
            <a:off x="7982712" y="3383280"/>
            <a:ext cx="256032" cy="274320"/>
          </a:xfrm>
          <a:prstGeom prst="triangl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138160" y="155448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F5F8F8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9509760" y="18288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950976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Phase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33375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validation succeeds, Ti's local updates are applied to the database. If it fails, Ti is aborted and restarted.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Validation-Based Concurrency Control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THE PHASES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Timestamps per Transaction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validate correctly, the system tracks three timestamps for each transaction Ti: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5F8F8"/>
          </a:solidFill>
          <a:ln w="1587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Start(Ti)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at which Ti began execution.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5F8F8"/>
          </a:solidFill>
          <a:ln w="1587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617720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Validation(Ti)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78892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at which Ti finished its read phase and entered validation.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138160" y="210312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5F8F8"/>
          </a:solidFill>
          <a:ln w="1587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8412480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Finish(Ti)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78892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at which Ti completed its write phase (including validation).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22960" y="4846320"/>
            <a:ext cx="10515600" cy="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024128" y="477316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48640" y="4983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956048" y="477316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4480560" y="4983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9528048" y="477316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9052560" y="4983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486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5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ordering uses Validation(Ti) as the surrogate for the transaction's serialization point — not Start(Ti).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Validation-Based Concurrency Control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VALIDATION TEST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Serializability Check for Tj vs. Ti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validation of Tj to succeed, for all earlier transactions Ti with TS(Ti) &lt; TS(Tj), one of the following must hold: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5F8F8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22860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772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2128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B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Finish(Ti) &lt; Start(Tj)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6517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completed entirely before Tj even began — no overlap possible.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5F8F8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77240" y="37033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7724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63016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B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Start(Tj) &lt; Finish(Ti) &lt; Validation(Tj) AND write-set(Ti) ∩ read-set(Tj) = ∅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06908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finishes while Tj is still running, but Ti never wrote anything Tj read.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5F8F8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77240" y="51206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77240" y="5120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504748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B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Finish(Ti) &lt; Validation(Tj) AND write-set(Ti) ∩ (read-set(Tj) ∪ write-set(Tj)) = ∅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548640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finishes before Tj validates, and Ti's writes don't overlap any of Tj's reads or writes.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Validation-Based Concurrency Control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Validating a Concurrent Schedule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T14 reads and writes Q; T15 reads Q and writes another item R. Suppose T14's write phase finishes before T15 enters validation.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64240" cy="45720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2194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194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10642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85800" y="27889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Finish(T14) vs Validation(T15)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7889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Finish(T14) &lt; Validation(T15)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7889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3 applies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11064240" cy="594360"/>
          </a:xfrm>
          <a:prstGeom prst="rect">
            <a:avLst/>
          </a:prstGeom>
          <a:solidFill>
            <a:srgbClr val="F5F8F8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85800" y="3383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write-set(T14) ∩ read-set(T15)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33832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T14 wrote Q; T15 read Q → overlap exists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3383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Condition 3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110642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85800" y="3977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result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39776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detected on Q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977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 is aborted and restarted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FF3DE"/>
          </a:solidFill>
          <a:ln w="12700">
            <a:solidFill>
              <a:srgbClr val="E0A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868680" y="53492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instead T14 had only touched items outside T15's read/write set, Condition 3 would have been satisfied and T15 would commit without conflict.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Validation-Based Concurrency Control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and Disadvantages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E4F7F1"/>
          </a:solidFill>
          <a:ln w="1587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6868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3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48840"/>
            <a:ext cx="4754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locking overhead during the read phase — high concurrency when conflicts are rare.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Deadlock-free, since no transaction ever waits on a lock.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suited to workloads dominated by read-only or low-conflict transactions.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DEAEA"/>
          </a:solidFill>
          <a:ln w="15875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5379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148840"/>
            <a:ext cx="4754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✗"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work — aborted transactions discard all computation from the read phase.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✗"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high contention, repeated aborts can hurt throughput badly (thrashing).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✗"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maintaining read/write sets and timestamps for validation bookkeeping.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Validation-Based Concurrency Control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Locking vs. Timestamp Ordering vs.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Lock-Based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Ordering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8778240" y="1554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(Optimistic)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40080" y="23317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2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conflicts are checked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3317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each item is accessed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3317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each item is accessed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8869680" y="23317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at commit time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11064240" cy="777240"/>
          </a:xfrm>
          <a:prstGeom prst="rect">
            <a:avLst/>
          </a:prstGeom>
          <a:solidFill>
            <a:srgbClr val="F5F8F8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40080" y="3108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2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108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transactions wait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108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waiting; may abort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8869680" y="31089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waiting; may abort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40080" y="38862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2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risk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8862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(unless prevented)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38862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8869680" y="38862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11064240" cy="777240"/>
          </a:xfrm>
          <a:prstGeom prst="rect">
            <a:avLst/>
          </a:prstGeom>
          <a:solidFill>
            <a:srgbClr val="F5F8F8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40080" y="4663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2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4663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/ high-conflict</a:t>
            </a:r>
            <a:endParaRPr lang="en-US" dirty="0"/>
          </a:p>
        </p:txBody>
      </p:sp>
      <p:sp>
        <p:nvSpPr>
          <p:cNvPr id="28" name="Text 26"/>
          <p:cNvSpPr txBox="1"/>
          <p:nvPr/>
        </p:nvSpPr>
        <p:spPr>
          <a:xfrm>
            <a:off x="6126480" y="4663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conflict</a:t>
            </a:r>
            <a:endParaRPr lang="en-US" dirty="0"/>
          </a:p>
        </p:txBody>
      </p:sp>
      <p:sp>
        <p:nvSpPr>
          <p:cNvPr id="29" name="Text 27"/>
          <p:cNvSpPr txBox="1"/>
          <p:nvPr/>
        </p:nvSpPr>
        <p:spPr>
          <a:xfrm>
            <a:off x="8869680" y="4663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3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Low-conflict, read-heavy</a:t>
            </a:r>
            <a:endParaRPr lang="en-US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Validation-Based Concurrency Control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222B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Protocols — Key Points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4708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execute freely in a Read Phase, working on local copies of data.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315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89864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commit, the Validation Phase checks the transaction's read/write sets against concurrently running transactions.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95020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conditions (based on Start, Validation, and Finish timestamps) determine whether a conflict-free serial order exists.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31520" y="50749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73152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500176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protocols trade occasional wasted work for zero blocking — ideal when conflicts are genuinely rare.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Database Failures and Recovery Techniques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856</Words>
  <Application>Microsoft Office PowerPoint</Application>
  <PresentationFormat>Widescreen</PresentationFormat>
  <Paragraphs>136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Dr. Kiran Mayee Adavala</cp:lastModifiedBy>
  <cp:revision>2</cp:revision>
  <dcterms:created xsi:type="dcterms:W3CDTF">2026-09-07T12:32:19Z</dcterms:created>
  <dcterms:modified xsi:type="dcterms:W3CDTF">2026-09-09T07:39:33Z</dcterms:modified>
</cp:coreProperties>
</file>