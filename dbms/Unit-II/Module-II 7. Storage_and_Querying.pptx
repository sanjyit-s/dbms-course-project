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5C141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5C141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8B1E24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2103120" y="4389120"/>
            <a:ext cx="3840480" cy="3840480"/>
          </a:xfrm>
          <a:prstGeom prst="ellipse">
            <a:avLst/>
          </a:prstGeom>
          <a:solidFill>
            <a:srgbClr val="5C1418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02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WOXSEN UNIVERSITY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2651760" cy="438912"/>
          </a:xfrm>
          <a:prstGeom prst="roundRect">
            <a:avLst>
              <a:gd name="adj" fmla="val 50000"/>
            </a:avLst>
          </a:prstGeom>
          <a:solidFill>
            <a:srgbClr val="8B1E2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5156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&amp; Querying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6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SQL3, Commercial RDBMS Platforms &amp; Storage Systems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3200400"/>
            <a:ext cx="2194560" cy="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40156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pPr indent="0" marL="0">
              <a:buNone/>
            </a:pPr>
            <a:r>
              <a:rPr lang="en-US" sz="13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</a:t>
            </a:r>
            <a:pPr indent="0" marL="0">
              <a:buNone/>
            </a:pPr>
            <a:r>
              <a:rPr lang="en-US" sz="13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slides — in-depth topic coverage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40965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buNone/>
            </a:pPr>
            <a:r>
              <a:rPr lang="en-US" sz="13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Kiran Mayee Adavala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444398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i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Silberschatz, Korth &amp; Sudarshan — Database System Concepts; Ullman &amp; Widom — Database Systems: The Complete Book; Elmasri &amp; Navathe — Fundamentals of Database Systems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Physical Storage Hierarchy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70248" y="5029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File Organization Methods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900416" y="5029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Indexing Basics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" y="5303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Index Structures (B-Tree, B+ Tree, Hash)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70248" y="5303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The B+ Tree Index in Detail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00416" y="5303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Query Processing Steps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2 of 11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QUERYING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topic, students will be able to: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8448" y="1938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physical storage hierarchy used by database systems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7157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98448" y="268833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common file organization methods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4655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98448" y="343814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purpose and types of database indexes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2153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98448" y="418795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structure and advantages of the B+ Tree index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9651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98448" y="493776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the steps a DBMS follows to process and optimize a query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3 of 11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QUERYING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Storage Hierarchy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fastest/smallest to slowest/largest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 Memory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12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fast, volatile, very limited capacity — built into the CPU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738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50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50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50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Memory (RAM)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50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volatile working memory used for active data and query processing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076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088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20" name="Text 18"/>
          <p:cNvSpPr/>
          <p:nvPr/>
        </p:nvSpPr>
        <p:spPr>
          <a:xfrm>
            <a:off x="83088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088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Flash/SSD Storage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088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Non-volatile, much faster than magnetic disk, moderate cost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721608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41248" y="3904488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1248" y="4398264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Magnetic Disk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41248" y="4727448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Non-volatile, high capacity, primary persistent storage for most databases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73880" y="3721608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5048" y="3904488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5048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5048" y="4398264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Optical/Tape Storage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75048" y="4727448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capacity, low cost, slow access — used mainly for archival backup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4 of 11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QUERYING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Organization Methods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records are physically arranged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(unordered) file: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are placed wherever space is available — fast inserts, slow searches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file: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are stored in sorted order by a key — efficient for range queries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file organization: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 function maps key values directly to storage locations — very fast equality lookups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file organization: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records from one or more tables are stored physically together to speed up joins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5 of 11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QUERYING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Indexing Basics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Speeding up data access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index trades extra storage and slower writes for much faster reads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index: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an index entry for every search key value in the file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index: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entries for only some key values; requires a short scan within a block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vs. secondary index: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primary index is built on the file's ordering key; a secondary index is built on any other attribute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6 of 11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QUERYING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 Structures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implementations used by RDBMSs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B-Tree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12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tree where data pointers can exist at any node level, not just leaves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738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50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50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50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B+ Tree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50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tree where all data pointers live only at leaf level; leaves are linked for fast range scans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076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088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20" name="Text 18"/>
          <p:cNvSpPr/>
          <p:nvPr/>
        </p:nvSpPr>
        <p:spPr>
          <a:xfrm>
            <a:off x="83088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088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 Index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088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hash function for near-instant equality lookups, but performs poorly for range queries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7 of 11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QUERYING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B+ Tree Index in Detail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index structure in most RDBMSs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Self-balancing: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leaf nodes remain at the same depth, guaranteeing predictable lookup performance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Leaf-linked: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nodes are linked in sorted order, enabling fast sequential and range scans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fan-out: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internal node holds many keys, keeping the tree height — and disk I/O — low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adopted: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index structure used by most commercial and open-source RDBMSs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8 of 11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QUERYING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Processing Steps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DBMS turns SQL into a result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2446020" cy="1828800"/>
          </a:xfrm>
          <a:prstGeom prst="roundRect">
            <a:avLst>
              <a:gd name="adj" fmla="val 4500"/>
            </a:avLst>
          </a:prstGeom>
          <a:solidFill>
            <a:srgbClr val="8B1E24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07058" y="2578608"/>
            <a:ext cx="512064" cy="512064"/>
          </a:xfrm>
          <a:prstGeom prst="ellipse">
            <a:avLst/>
          </a:prstGeom>
          <a:solidFill>
            <a:srgbClr val="FBFAF8"/>
          </a:solidFill>
          <a:ln/>
        </p:spPr>
      </p:sp>
      <p:sp>
        <p:nvSpPr>
          <p:cNvPr id="10" name="Text 8"/>
          <p:cNvSpPr/>
          <p:nvPr/>
        </p:nvSpPr>
        <p:spPr>
          <a:xfrm>
            <a:off x="1607058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49808" y="3246120"/>
            <a:ext cx="2226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Parsing &amp;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49808" y="3675888"/>
            <a:ext cx="22265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9E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syntax and convert SQL into an internal relational algebra expression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13532" y="3191256"/>
            <a:ext cx="310896" cy="201168"/>
          </a:xfrm>
          <a:prstGeom prst="rightArrow">
            <a:avLst/>
          </a:prstGeom>
          <a:solidFill>
            <a:srgbClr val="C89B3C"/>
          </a:solidFill>
          <a:ln/>
        </p:spPr>
      </p:sp>
      <p:sp>
        <p:nvSpPr>
          <p:cNvPr id="14" name="Shape 12"/>
          <p:cNvSpPr/>
          <p:nvPr/>
        </p:nvSpPr>
        <p:spPr>
          <a:xfrm>
            <a:off x="3451860" y="2377440"/>
            <a:ext cx="2446020" cy="1828800"/>
          </a:xfrm>
          <a:prstGeom prst="roundRect">
            <a:avLst>
              <a:gd name="adj" fmla="val 4500"/>
            </a:avLst>
          </a:prstGeom>
          <a:solidFill>
            <a:srgbClr val="5C1418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18838" y="2578608"/>
            <a:ext cx="512064" cy="512064"/>
          </a:xfrm>
          <a:prstGeom prst="ellipse">
            <a:avLst/>
          </a:prstGeom>
          <a:solidFill>
            <a:srgbClr val="FBFAF8"/>
          </a:solidFill>
          <a:ln/>
        </p:spPr>
      </p:sp>
      <p:sp>
        <p:nvSpPr>
          <p:cNvPr id="16" name="Text 14"/>
          <p:cNvSpPr/>
          <p:nvPr/>
        </p:nvSpPr>
        <p:spPr>
          <a:xfrm>
            <a:off x="4418838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561588" y="3246120"/>
            <a:ext cx="2226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561588" y="3675888"/>
            <a:ext cx="22265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9E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most efficient execution plan among several alternatives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25312" y="3191256"/>
            <a:ext cx="310896" cy="201168"/>
          </a:xfrm>
          <a:prstGeom prst="rightArrow">
            <a:avLst/>
          </a:prstGeom>
          <a:solidFill>
            <a:srgbClr val="C89B3C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3640" y="2377440"/>
            <a:ext cx="2446020" cy="1828800"/>
          </a:xfrm>
          <a:prstGeom prst="roundRect">
            <a:avLst>
              <a:gd name="adj" fmla="val 4500"/>
            </a:avLst>
          </a:prstGeom>
          <a:solidFill>
            <a:srgbClr val="8B1E24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30618" y="2578608"/>
            <a:ext cx="512064" cy="512064"/>
          </a:xfrm>
          <a:prstGeom prst="ellipse">
            <a:avLst/>
          </a:prstGeom>
          <a:solidFill>
            <a:srgbClr val="FBFAF8"/>
          </a:solidFill>
          <a:ln/>
        </p:spPr>
      </p:sp>
      <p:sp>
        <p:nvSpPr>
          <p:cNvPr id="22" name="Text 20"/>
          <p:cNvSpPr/>
          <p:nvPr/>
        </p:nvSpPr>
        <p:spPr>
          <a:xfrm>
            <a:off x="7230618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73368" y="3246120"/>
            <a:ext cx="2226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73368" y="3675888"/>
            <a:ext cx="22265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9E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query execution engine carries out the chosen plan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737092" y="3191256"/>
            <a:ext cx="310896" cy="201168"/>
          </a:xfrm>
          <a:prstGeom prst="rightArrow">
            <a:avLst/>
          </a:prstGeom>
          <a:solidFill>
            <a:srgbClr val="C89B3C"/>
          </a:solidFill>
          <a:ln/>
        </p:spPr>
      </p:sp>
      <p:sp>
        <p:nvSpPr>
          <p:cNvPr id="26" name="Shape 24"/>
          <p:cNvSpPr/>
          <p:nvPr/>
        </p:nvSpPr>
        <p:spPr>
          <a:xfrm>
            <a:off x="9075420" y="2377440"/>
            <a:ext cx="2446020" cy="1828800"/>
          </a:xfrm>
          <a:prstGeom prst="roundRect">
            <a:avLst>
              <a:gd name="adj" fmla="val 4500"/>
            </a:avLst>
          </a:prstGeom>
          <a:solidFill>
            <a:srgbClr val="5C1418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042398" y="2578608"/>
            <a:ext cx="512064" cy="512064"/>
          </a:xfrm>
          <a:prstGeom prst="ellipse">
            <a:avLst/>
          </a:prstGeom>
          <a:solidFill>
            <a:srgbClr val="FBFAF8"/>
          </a:solidFill>
          <a:ln/>
        </p:spPr>
      </p:sp>
      <p:sp>
        <p:nvSpPr>
          <p:cNvPr id="28" name="Text 26"/>
          <p:cNvSpPr/>
          <p:nvPr/>
        </p:nvSpPr>
        <p:spPr>
          <a:xfrm>
            <a:off x="10042398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185148" y="3246120"/>
            <a:ext cx="2226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185148" y="3675888"/>
            <a:ext cx="22265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9E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resulting tuples are returned to the user or application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9 of 11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QUERYING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Optimization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most efficient execution plan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Cost-based optimization: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the I/O, CPU, and memory cost of alternative execution plans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and index cardinality/data-distribution statistics guide the optimizer's cost estimates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chosen sequence of operations, often visualized as an operator tree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strategy: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order and algorithm choice (nested-loop, sort-merge, hash join) greatly affect performance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10 of 11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QUERYING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Query Evaluation Plan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Name FROM Student WHERE Semester = 7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108960"/>
                <a:gridCol w="685800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Index/Table Scan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STUDENT via a B+ Tree index on Semester if one exists, else a full table scan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rows where Semester = 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only the Name column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 the final result set to the user or application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11 of 11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QUERYING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Quick Check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Querying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3408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21284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storage hierarchy trades off speed, volatility, capacity, and cost from cache down to tape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93522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80720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organization (heap, sequential, hashing, clustered) shapes insert and search performance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52958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40156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speed up reads at the cost of extra storage and slower writes; B+ Trees are the RDBMS default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12394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99592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 moves through parsing, optimization, evaluation, and result output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182880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5C1418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25146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Why are B+ Trees generally preferred over plain B-Trees for database indexing?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34747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What is the difference between a dense and a sparse index?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83680" y="44348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List the four main steps a DBMS follows to process a query.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2026-07-29T23:45:00Z</dcterms:created>
  <dcterms:modified xsi:type="dcterms:W3CDTF">2026-07-29T23:45:00Z</dcterms:modified>
</cp:coreProperties>
</file>