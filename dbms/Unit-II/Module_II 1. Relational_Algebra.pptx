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8B1E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Query Languages and Database Systems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886200"/>
            <a:ext cx="219456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5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buNone/>
            </a:pPr>
            <a:r>
              <a:rPr lang="en-US" sz="15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 — in-depth topic coverage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5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4864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Relational Algebra?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0" y="54864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Unary Operations: Select &amp; Project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8338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Operations &amp; Compatibility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0" y="58338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Cartesian Product &amp; Rename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1813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Join Operations (Theta, Equi, Natural)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0" y="61813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Outer Joins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5288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Division Operation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0" y="65288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Extended/Aggregate Operations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8762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Worked Multi-step Query Example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2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relational algebra and explain its role as a procedural query language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fundamental unary operations: Selection and Projection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set operations (Union, Intersection, Set Difference) under compatibility rules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types of Joins, including outer joins, and apply the Division operation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49377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extended operations such as aggregate functions and generalized projection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3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Relational Algebra?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procedural query language over relations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formal, procedural query language that takes one or more relations as input and produces a new relation as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43200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specifies both what data is needed and the sequence of operations used to get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66744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SQL: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optimizers internally translate declarative SQL into relational algebra expressions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18304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590288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property: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every operation's output is itself a relation, operations can be freely composed/nested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641848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513832"/>
            <a:ext cx="102412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E. F. Codd in 1970 alongside the relational model itself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4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Fundamental Operations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operation can be expressed using these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80660" cy="13289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(σ)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48783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tuples (rows) that satisfy a given condition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0780" y="1874520"/>
            <a:ext cx="5280660" cy="13289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19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 (π)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1948" y="2880360"/>
            <a:ext cx="48783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specific attributes (columns), removing duplicates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496056"/>
            <a:ext cx="5280660" cy="13289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678936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678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172712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(∪)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4501896"/>
            <a:ext cx="48783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tuples from two union-compatible relations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0780" y="3496056"/>
            <a:ext cx="5280660" cy="13289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1948" y="3678936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948" y="3678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1948" y="4172712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Difference (−)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1948" y="4501896"/>
            <a:ext cx="48783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present in one relation but not another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117592"/>
            <a:ext cx="5280660" cy="13289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5300472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30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" y="5794248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Cartesian Product (×)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1248" y="6123432"/>
            <a:ext cx="48783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every tuple of one relation with every tuple of another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40780" y="5117592"/>
            <a:ext cx="5280660" cy="13289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1948" y="5300472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35" name="Text 33"/>
          <p:cNvSpPr/>
          <p:nvPr/>
        </p:nvSpPr>
        <p:spPr>
          <a:xfrm>
            <a:off x="6441948" y="530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41948" y="5794248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(ρ)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41948" y="6123432"/>
            <a:ext cx="48783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a relation and/or its attributes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5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&amp; Projection — Worked Examples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STUDENT(Student_ID, Name, Branch, Semester)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994410"/>
          </a:xfrm>
          <a:prstGeom prst="roundRect">
            <a:avLst>
              <a:gd name="adj" fmla="val 6437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47672"/>
            <a:ext cx="2743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03320" y="1947672"/>
            <a:ext cx="42062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Semester = 7 (STUDENT)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1947672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tuples where Semester equals 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06090"/>
            <a:ext cx="10881360" cy="994410"/>
          </a:xfrm>
          <a:prstGeom prst="roundRect">
            <a:avLst>
              <a:gd name="adj" fmla="val 6437"/>
            </a:avLst>
          </a:prstGeom>
          <a:solidFill>
            <a:srgbClr val="F3EEE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79242"/>
            <a:ext cx="2743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(AND)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3079242"/>
            <a:ext cx="42062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Branch='CSE' ∧ Semester=7 (STUDENT)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3079242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with logical AND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137660"/>
            <a:ext cx="10881360" cy="994410"/>
          </a:xfrm>
          <a:prstGeom prst="roundRect">
            <a:avLst>
              <a:gd name="adj" fmla="val 6437"/>
            </a:avLst>
          </a:prstGeom>
          <a:solidFill>
            <a:srgbClr val="F3EEE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10812"/>
            <a:ext cx="2743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03320" y="4210812"/>
            <a:ext cx="42062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Name, Branch (STUDENT)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4210812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Name and Branch columns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269230"/>
            <a:ext cx="10881360" cy="994410"/>
          </a:xfrm>
          <a:prstGeom prst="roundRect">
            <a:avLst>
              <a:gd name="adj" fmla="val 6437"/>
            </a:avLst>
          </a:prstGeom>
          <a:solidFill>
            <a:srgbClr val="F3EEE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42382"/>
            <a:ext cx="2743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+ Project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03320" y="5342382"/>
            <a:ext cx="42062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Name (σ Branch='CSE' (STUDENT))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5342382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students only in the CSE branch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6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Operations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tuples from two relations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(R ∪ S)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tuples appearing in R, in S, or in both — duplicates removed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(R ∩ S)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tuples appearing in both R and 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Difference (R − S)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in R that do not appear in 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7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Union-Compatibility, Cartesian Product &amp; Rename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additional core operations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Union-compatibility rule: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S must have the same number of attributes, with matching domains in order, to apply ∪, ∩, or 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(R × S):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every tuple of R with every tuple of S; result has |R| × |S| tuples and degree = degree(R) + degree(S)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(ρ):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X (R) renames relation R to X; ρ X(A1,...,An) (R) also renames its attributes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rename matters: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when combining a relation with itself, or to give meaningful names to derived results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8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Operations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related tuples from two relations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Theta Join (⌈θ)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tuples from two relations that satisfy a general condition 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Equi-Join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theta join where the condition uses only equality (=)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Join (⋈)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equi-join on common attribute names, with duplicate columns removed automatically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9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 Joins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unmatched tuples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Outer Join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tuples of the left relation, filling unmatched right-side attributes with NULL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Outer Join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tuples of the right relation, filling unmatched left-side attributes with NULL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Outer Join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tuples from both relations, with NULLs wherever no match exists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10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Division Operation (÷)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'for all' style queries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tuples in one relation that are associated with every tuple in another relation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use case: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‘Find students who have enrolled in ALL courses offered by a department’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÷ S returns tuples t such that t combined with every tuple of S appears in 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primitive: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can be expressed using Projection, Set Difference, and Cartesian Product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11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— Worked Example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ENROLLS(Student_ID, Course_ID) ÷ DEPT_COURSES(Course_ID)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881360" cy="2125980"/>
          </a:xfrm>
          <a:prstGeom prst="roundRect">
            <a:avLst>
              <a:gd name="adj" fmla="val 3011"/>
            </a:avLst>
          </a:prstGeom>
          <a:solidFill>
            <a:srgbClr val="F3EEE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47672"/>
            <a:ext cx="27432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03320" y="1947672"/>
            <a:ext cx="420624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ENROLLS ÷ DEPT_COURSES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1947672"/>
            <a:ext cx="32004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Student_IDs enrolled in every course listed in DEPT_COURSES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137660"/>
            <a:ext cx="10881360" cy="2125980"/>
          </a:xfrm>
          <a:prstGeom prst="roundRect">
            <a:avLst>
              <a:gd name="adj" fmla="val 3011"/>
            </a:avLst>
          </a:prstGeom>
          <a:solidFill>
            <a:srgbClr val="F3EEE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10812"/>
            <a:ext cx="27432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 form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4210812"/>
            <a:ext cx="420624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Student_ID (ENROLLS) − π Student_ID ((π Student_ID (ENROLLS) × DEPT_COURSES) − ENROLLS)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4210812"/>
            <a:ext cx="32004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Division reduces to primitive operations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12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Operations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original six operations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Projection: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arithmetic expressions and constants within the projection list, not just attribute names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SUM, AVG, MIN, MAX — summarize values across a group of tuples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(ɢ):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Group-By operation partitions tuples before applying an aggregate function to each group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Union: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Union, but relaxes the strict union-compatibility requirement by padding missing attributes with NULL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13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Multi-Step Query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“Names of CSE students enrolled in a Database course”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852160"/>
                <a:gridCol w="41148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Branch = 'CSE' (STUDENT)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students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Title = 'Database' (COURSE)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Database course 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Step1 ⋈ ENROLLS ⋈ Step2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join across Student – Enrolls – Course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Name (Step 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list of student names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14 of 14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— Summary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is a procedural query language: it specifies both what and how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fundamental operations: Selection, Projection, Union, Set Difference, Cartesian Product, Rename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(theta, equi, natural, outer) combine related tuples from two relations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answers 'for all' queries; extended operations add aggregation and grouping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Write the algebra expression to find students NOT enrolled in any course.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is the difference between a Theta Join and a Natural Join?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When would you use the Division operation instead of a Join?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2026-07-27T00:52:59Z</dcterms:created>
  <dcterms:modified xsi:type="dcterms:W3CDTF">2026-07-27T00:52:59Z</dcterms:modified>
</cp:coreProperties>
</file>