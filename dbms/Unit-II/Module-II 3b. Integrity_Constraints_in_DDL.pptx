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377440"/>
            <a:ext cx="6400800" cy="6400800"/>
          </a:xfrm>
          <a:prstGeom prst="ellipse">
            <a:avLst/>
          </a:prstGeom>
          <a:solidFill>
            <a:srgbClr val="6D1B2F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554480"/>
            <a:ext cx="6400800" cy="6400800"/>
          </a:xfrm>
          <a:prstGeom prst="ellipse">
            <a:avLst/>
          </a:prstGeom>
          <a:solidFill>
            <a:srgbClr val="5A162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126480"/>
            <a:ext cx="12188952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E8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187452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 Constraints in DDL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Enforcing accuracy, consistency, and reliability of data at the schema level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6D1B2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1605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901952" y="4160520"/>
            <a:ext cx="886968" cy="384048"/>
          </a:xfrm>
          <a:prstGeom prst="roundRect">
            <a:avLst>
              <a:gd name="adj" fmla="val 19048"/>
            </a:avLst>
          </a:prstGeom>
          <a:solidFill>
            <a:srgbClr val="6D1B2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01952" y="4160520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953512" y="4160520"/>
            <a:ext cx="1412748" cy="384048"/>
          </a:xfrm>
          <a:prstGeom prst="roundRect">
            <a:avLst>
              <a:gd name="adj" fmla="val 19048"/>
            </a:avLst>
          </a:prstGeom>
          <a:solidFill>
            <a:srgbClr val="6D1B2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53512" y="4160520"/>
            <a:ext cx="14127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30852" y="4160520"/>
            <a:ext cx="1412748" cy="384048"/>
          </a:xfrm>
          <a:prstGeom prst="roundRect">
            <a:avLst>
              <a:gd name="adj" fmla="val 19048"/>
            </a:avLst>
          </a:prstGeom>
          <a:solidFill>
            <a:srgbClr val="6D1B2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30852" y="4160520"/>
            <a:ext cx="14127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 KEY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08192" y="4160520"/>
            <a:ext cx="781812" cy="384048"/>
          </a:xfrm>
          <a:prstGeom prst="roundRect">
            <a:avLst>
              <a:gd name="adj" fmla="val 19048"/>
            </a:avLst>
          </a:prstGeom>
          <a:solidFill>
            <a:srgbClr val="6D1B2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08192" y="4160520"/>
            <a:ext cx="7818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054596" y="4160520"/>
            <a:ext cx="992124" cy="384048"/>
          </a:xfrm>
          <a:prstGeom prst="roundRect">
            <a:avLst>
              <a:gd name="adj" fmla="val 19048"/>
            </a:avLst>
          </a:prstGeom>
          <a:solidFill>
            <a:srgbClr val="6D1B2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54596" y="4160520"/>
            <a:ext cx="9921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  |  DBMS – Unit 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D4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4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Integrity Constraints?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constraints are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6D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defined in DDL (CREATE / ALTER TABLE)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restrict the values a database can hold — so the data always stays accurate, consistent, and valid.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063240"/>
            <a:ext cx="384048" cy="384048"/>
          </a:xfrm>
          <a:prstGeom prst="ellipse">
            <a:avLst/>
          </a:prstGeom>
          <a:solidFill>
            <a:srgbClr val="6D1B2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063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E8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60" dirty="0"/>
          </a:p>
        </p:txBody>
      </p:sp>
      <p:sp>
        <p:nvSpPr>
          <p:cNvPr id="8" name="Text 6"/>
          <p:cNvSpPr/>
          <p:nvPr/>
        </p:nvSpPr>
        <p:spPr>
          <a:xfrm>
            <a:off x="1005840" y="303580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invalid data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05840" y="335584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rows that violate a business rule before they are ever stored.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384048" cy="384048"/>
          </a:xfrm>
          <a:prstGeom prst="ellipse">
            <a:avLst/>
          </a:prstGeom>
          <a:solidFill>
            <a:srgbClr val="6D1B2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E8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260" dirty="0"/>
          </a:p>
        </p:txBody>
      </p:sp>
      <p:sp>
        <p:nvSpPr>
          <p:cNvPr id="12" name="Text 10"/>
          <p:cNvSpPr/>
          <p:nvPr/>
        </p:nvSpPr>
        <p:spPr>
          <a:xfrm>
            <a:off x="1005840" y="39959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by the RDBMS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005840" y="431596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automatically on every INSERT, UPDATE, and DELETE.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4983480"/>
            <a:ext cx="384048" cy="384048"/>
          </a:xfrm>
          <a:prstGeom prst="ellipse">
            <a:avLst/>
          </a:prstGeom>
          <a:solidFill>
            <a:srgbClr val="6D1B2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983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E8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1005840" y="49560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once, applied always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005840" y="52760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at table-creation time, not re-checked in every application.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0" y="155448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9050">
            <a:solidFill>
              <a:srgbClr val="E8D48A"/>
            </a:solidFill>
            <a:prstDash val="solid"/>
          </a:ln>
          <a:effectLst>
            <a:outerShdw sx="100000" sy="100000" kx="0" ky="0" algn="bl" rotWithShape="0" blurRad="127000" dist="38100" dir="5400000">
              <a:srgbClr val="6D1B2F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20840" y="1783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D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20840" y="21031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constraint...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720840" y="2423160"/>
            <a:ext cx="4754880" cy="1325880"/>
          </a:xfrm>
          <a:prstGeom prst="roundRect">
            <a:avLst>
              <a:gd name="adj" fmla="val 5517"/>
            </a:avLst>
          </a:prstGeom>
          <a:solidFill>
            <a:srgbClr val="241014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20840" y="2423160"/>
            <a:ext cx="4754880" cy="310896"/>
          </a:xfrm>
          <a:prstGeom prst="roundRect">
            <a:avLst>
              <a:gd name="adj" fmla="val 23529"/>
            </a:avLst>
          </a:prstGeom>
          <a:solidFill>
            <a:srgbClr val="4A1220"/>
          </a:solidFill>
          <a:ln/>
        </p:spPr>
      </p:sp>
      <p:sp>
        <p:nvSpPr>
          <p:cNvPr id="23" name="Shape 21"/>
          <p:cNvSpPr/>
          <p:nvPr/>
        </p:nvSpPr>
        <p:spPr>
          <a:xfrm>
            <a:off x="6720840" y="2578608"/>
            <a:ext cx="4754880" cy="155448"/>
          </a:xfrm>
          <a:prstGeom prst="rect">
            <a:avLst/>
          </a:prstGeom>
          <a:solidFill>
            <a:srgbClr val="4A1220"/>
          </a:solidFill>
          <a:ln/>
        </p:spPr>
      </p:sp>
      <p:sp>
        <p:nvSpPr>
          <p:cNvPr id="24" name="Text 22"/>
          <p:cNvSpPr/>
          <p:nvPr/>
        </p:nvSpPr>
        <p:spPr>
          <a:xfrm>
            <a:off x="6885432" y="2423160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835640" y="2532888"/>
            <a:ext cx="91440" cy="9144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26" name="Shape 24"/>
          <p:cNvSpPr/>
          <p:nvPr/>
        </p:nvSpPr>
        <p:spPr>
          <a:xfrm>
            <a:off x="11018520" y="2532888"/>
            <a:ext cx="91440" cy="9144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7" name="Shape 25"/>
          <p:cNvSpPr/>
          <p:nvPr/>
        </p:nvSpPr>
        <p:spPr>
          <a:xfrm>
            <a:off x="11201400" y="2532888"/>
            <a:ext cx="91440" cy="91440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8" name="Text 26"/>
          <p:cNvSpPr/>
          <p:nvPr/>
        </p:nvSpPr>
        <p:spPr>
          <a:xfrm>
            <a:off x="6922008" y="2825496"/>
            <a:ext cx="435254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Student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(101, NULL, -5);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Blank name, negative marks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silently accepted!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20840" y="38862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constraint...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720840" y="4206240"/>
            <a:ext cx="4754880" cy="1463040"/>
          </a:xfrm>
          <a:prstGeom prst="roundRect">
            <a:avLst>
              <a:gd name="adj" fmla="val 5000"/>
            </a:avLst>
          </a:prstGeom>
          <a:solidFill>
            <a:srgbClr val="241014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20840" y="4206240"/>
            <a:ext cx="4754880" cy="310896"/>
          </a:xfrm>
          <a:prstGeom prst="roundRect">
            <a:avLst>
              <a:gd name="adj" fmla="val 23529"/>
            </a:avLst>
          </a:prstGeom>
          <a:solidFill>
            <a:srgbClr val="4A1220"/>
          </a:solidFill>
          <a:ln/>
        </p:spPr>
      </p:sp>
      <p:sp>
        <p:nvSpPr>
          <p:cNvPr id="32" name="Shape 30"/>
          <p:cNvSpPr/>
          <p:nvPr/>
        </p:nvSpPr>
        <p:spPr>
          <a:xfrm>
            <a:off x="6720840" y="4361688"/>
            <a:ext cx="4754880" cy="155448"/>
          </a:xfrm>
          <a:prstGeom prst="rect">
            <a:avLst/>
          </a:prstGeom>
          <a:solidFill>
            <a:srgbClr val="4A1220"/>
          </a:solidFill>
          <a:ln/>
        </p:spPr>
      </p:sp>
      <p:sp>
        <p:nvSpPr>
          <p:cNvPr id="33" name="Text 31"/>
          <p:cNvSpPr/>
          <p:nvPr/>
        </p:nvSpPr>
        <p:spPr>
          <a:xfrm>
            <a:off x="6885432" y="4206240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0835640" y="4315968"/>
            <a:ext cx="91440" cy="9144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35" name="Shape 33"/>
          <p:cNvSpPr/>
          <p:nvPr/>
        </p:nvSpPr>
        <p:spPr>
          <a:xfrm>
            <a:off x="11018520" y="4315968"/>
            <a:ext cx="91440" cy="9144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36" name="Shape 34"/>
          <p:cNvSpPr/>
          <p:nvPr/>
        </p:nvSpPr>
        <p:spPr>
          <a:xfrm>
            <a:off x="11201400" y="4315968"/>
            <a:ext cx="91440" cy="91440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37" name="Text 35"/>
          <p:cNvSpPr/>
          <p:nvPr/>
        </p:nvSpPr>
        <p:spPr>
          <a:xfrm>
            <a:off x="6922008" y="4608576"/>
            <a:ext cx="43525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VARCHAR(50) NOT NULL,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INT CHECK (marks &gt;= 0)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ERROR: violates check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constraint — row rejected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CONSTRAINTS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D4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4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Categories of Integrity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70048" cy="41605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5875">
            <a:solidFill>
              <a:srgbClr val="E8D48A"/>
            </a:solidFill>
            <a:prstDash val="solid"/>
          </a:ln>
          <a:effectLst>
            <a:outerShdw sx="100000" sy="100000" kx="0" ky="0" algn="bl" rotWithShape="0" blurRad="101600" dist="25400" dir="5400000">
              <a:srgbClr val="6D1B2F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0116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6D1B2F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D48A"/>
                </a:solidFill>
              </a:rPr>
              <a:t>▭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13232" y="3017520"/>
            <a:ext cx="2157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4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Integrity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13232" y="3749040"/>
            <a:ext cx="215798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in a column must belong to a valid data type / range.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13232" y="5285232"/>
            <a:ext cx="2157984" cy="0"/>
          </a:xfrm>
          <a:prstGeom prst="line">
            <a:avLst/>
          </a:prstGeom>
          <a:noFill/>
          <a:ln w="12700">
            <a:solidFill>
              <a:srgbClr val="E8D4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5394960"/>
            <a:ext cx="21579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CHECK, DEFAULT, data type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28416" y="1691640"/>
            <a:ext cx="2670048" cy="41605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5875">
            <a:solidFill>
              <a:srgbClr val="E8D48A"/>
            </a:solidFill>
            <a:prstDash val="solid"/>
          </a:ln>
          <a:effectLst>
            <a:outerShdw sx="100000" sy="100000" kx="0" ky="0" algn="bl" rotWithShape="0" blurRad="101600" dist="25400" dir="5400000">
              <a:srgbClr val="6D1B2F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21024" y="20116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6D1B2F"/>
          </a:solidFill>
          <a:ln/>
        </p:spPr>
      </p:sp>
      <p:sp>
        <p:nvSpPr>
          <p:cNvPr id="14" name="Text 12"/>
          <p:cNvSpPr/>
          <p:nvPr/>
        </p:nvSpPr>
        <p:spPr>
          <a:xfrm>
            <a:off x="3621024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D48A"/>
                </a:solidFill>
              </a:rPr>
              <a:t>◆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584448" y="3017520"/>
            <a:ext cx="2157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4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Integrity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3584448" y="3749040"/>
            <a:ext cx="215798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must be uniquely identifiable — no duplicate or NULL keys.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584448" y="5285232"/>
            <a:ext cx="2157984" cy="0"/>
          </a:xfrm>
          <a:prstGeom prst="line">
            <a:avLst/>
          </a:prstGeom>
          <a:noFill/>
          <a:ln w="12700">
            <a:solidFill>
              <a:srgbClr val="E8D4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84448" y="5394960"/>
            <a:ext cx="21579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99632" y="1691640"/>
            <a:ext cx="2670048" cy="41605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5875">
            <a:solidFill>
              <a:srgbClr val="E8D48A"/>
            </a:solidFill>
            <a:prstDash val="solid"/>
          </a:ln>
          <a:effectLst>
            <a:outerShdw sx="100000" sy="100000" kx="0" ky="0" algn="bl" rotWithShape="0" blurRad="101600" dist="25400" dir="5400000">
              <a:srgbClr val="6D1B2F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20116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6D1B2F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D48A"/>
                </a:solidFill>
              </a:rPr>
              <a:t>⇄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455664" y="3017520"/>
            <a:ext cx="2157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4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Referential Integrity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455664" y="3749040"/>
            <a:ext cx="215798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between tables must always point to an existing row.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55664" y="5285232"/>
            <a:ext cx="2157984" cy="0"/>
          </a:xfrm>
          <a:prstGeom prst="line">
            <a:avLst/>
          </a:prstGeom>
          <a:noFill/>
          <a:ln w="12700">
            <a:solidFill>
              <a:srgbClr val="E8D4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55664" y="5394960"/>
            <a:ext cx="21579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 KEY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070848" y="1691640"/>
            <a:ext cx="2670048" cy="41605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5875">
            <a:solidFill>
              <a:srgbClr val="E8D48A"/>
            </a:solidFill>
            <a:prstDash val="solid"/>
          </a:ln>
          <a:effectLst>
            <a:outerShdw sx="100000" sy="100000" kx="0" ky="0" algn="bl" rotWithShape="0" blurRad="101600" dist="25400" dir="5400000">
              <a:srgbClr val="6D1B2F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363456" y="20116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6D1B2F"/>
          </a:solidFill>
          <a:ln/>
        </p:spPr>
      </p:sp>
      <p:sp>
        <p:nvSpPr>
          <p:cNvPr id="28" name="Text 26"/>
          <p:cNvSpPr/>
          <p:nvPr/>
        </p:nvSpPr>
        <p:spPr>
          <a:xfrm>
            <a:off x="9363456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D48A"/>
                </a:solidFill>
              </a:rPr>
              <a:t>★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326880" y="3017520"/>
            <a:ext cx="2157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4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/ User-Defined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9326880" y="3749040"/>
            <a:ext cx="215798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values must be unique, or satisfy a custom business rule.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326880" y="5285232"/>
            <a:ext cx="2157984" cy="0"/>
          </a:xfrm>
          <a:prstGeom prst="line">
            <a:avLst/>
          </a:prstGeom>
          <a:noFill/>
          <a:ln w="12700">
            <a:solidFill>
              <a:srgbClr val="E8D4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26880" y="5394960"/>
            <a:ext cx="21579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UNIQUE, CHECK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CONSTRAINTS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D4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4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INTEGRITY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NULL Constraint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5394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a column can never store a NULL (empty/unknown) value — every row must supply real data for that field.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D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090672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241014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3090672"/>
            <a:ext cx="5394960" cy="310896"/>
          </a:xfrm>
          <a:prstGeom prst="roundRect">
            <a:avLst>
              <a:gd name="adj" fmla="val 23529"/>
            </a:avLst>
          </a:prstGeom>
          <a:solidFill>
            <a:srgbClr val="4A122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3246120"/>
            <a:ext cx="5394960" cy="155448"/>
          </a:xfrm>
          <a:prstGeom prst="rect">
            <a:avLst/>
          </a:prstGeom>
          <a:solidFill>
            <a:srgbClr val="4A1220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3090672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— syntax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212080" y="3200400"/>
            <a:ext cx="91440" cy="9144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2" name="Shape 10"/>
          <p:cNvSpPr/>
          <p:nvPr/>
        </p:nvSpPr>
        <p:spPr>
          <a:xfrm>
            <a:off x="5394960" y="3200400"/>
            <a:ext cx="91440" cy="9144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3" name="Shape 11"/>
          <p:cNvSpPr/>
          <p:nvPr/>
        </p:nvSpPr>
        <p:spPr>
          <a:xfrm>
            <a:off x="5577840" y="3200400"/>
            <a:ext cx="91440" cy="91440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493008"/>
            <a:ext cx="499262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column_name  datatype  NOT NULL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D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956048"/>
            <a:ext cx="5394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per-column; a table can have several NOT NULL columns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from a value of 0 or '' — NULL means 'unknown/absent'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columns are NOT NULL implicitly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1572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D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1874520"/>
            <a:ext cx="5577840" cy="4572000"/>
          </a:xfrm>
          <a:prstGeom prst="roundRect">
            <a:avLst>
              <a:gd name="adj" fmla="val 1600"/>
            </a:avLst>
          </a:prstGeom>
          <a:solidFill>
            <a:srgbClr val="241014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874520"/>
            <a:ext cx="5577840" cy="310896"/>
          </a:xfrm>
          <a:prstGeom prst="roundRect">
            <a:avLst>
              <a:gd name="adj" fmla="val 23529"/>
            </a:avLst>
          </a:prstGeom>
          <a:solidFill>
            <a:srgbClr val="4A1220"/>
          </a:solidFill>
          <a:ln/>
        </p:spPr>
      </p:sp>
      <p:sp>
        <p:nvSpPr>
          <p:cNvPr id="20" name="Shape 18"/>
          <p:cNvSpPr/>
          <p:nvPr/>
        </p:nvSpPr>
        <p:spPr>
          <a:xfrm>
            <a:off x="6172200" y="2029968"/>
            <a:ext cx="5577840" cy="155448"/>
          </a:xfrm>
          <a:prstGeom prst="rect">
            <a:avLst/>
          </a:prstGeom>
          <a:solidFill>
            <a:srgbClr val="4A1220"/>
          </a:solidFill>
          <a:ln/>
        </p:spPr>
      </p:sp>
      <p:sp>
        <p:nvSpPr>
          <p:cNvPr id="21" name="Text 19"/>
          <p:cNvSpPr/>
          <p:nvPr/>
        </p:nvSpPr>
        <p:spPr>
          <a:xfrm>
            <a:off x="6336792" y="187452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— students table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109960" y="1984248"/>
            <a:ext cx="91440" cy="9144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292840" y="1984248"/>
            <a:ext cx="91440" cy="9144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4" name="Shape 22"/>
          <p:cNvSpPr/>
          <p:nvPr/>
        </p:nvSpPr>
        <p:spPr>
          <a:xfrm>
            <a:off x="11475720" y="1984248"/>
            <a:ext cx="91440" cy="91440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5" name="Text 23"/>
          <p:cNvSpPr/>
          <p:nvPr/>
        </p:nvSpPr>
        <p:spPr>
          <a:xfrm>
            <a:off x="6373368" y="2276856"/>
            <a:ext cx="5175504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Student (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roll_no   INT,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 VARCHAR(50) NOT NULL,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     VARCHAR(100) NOT NULL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Student VALUES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(1, NULL, 'a@w.edu');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ERROR: name cannot be NULL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Student VALUES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(1, 'Asha', 'a@w.edu');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Accepted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 CONSTRAINT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D4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4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INTEGRITY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 Constraint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5394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every value in a column (or set of columns) is different across all rows — duplicates are rejected. Unlike PRIMARY KEY, a table may have many UNIQUE columns and a UNIQUE column may allow one NULL.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D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090672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241014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3090672"/>
            <a:ext cx="5394960" cy="310896"/>
          </a:xfrm>
          <a:prstGeom prst="roundRect">
            <a:avLst>
              <a:gd name="adj" fmla="val 23529"/>
            </a:avLst>
          </a:prstGeom>
          <a:solidFill>
            <a:srgbClr val="4A122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3246120"/>
            <a:ext cx="5394960" cy="155448"/>
          </a:xfrm>
          <a:prstGeom prst="rect">
            <a:avLst/>
          </a:prstGeom>
          <a:solidFill>
            <a:srgbClr val="4A1220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3090672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— syntax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212080" y="3200400"/>
            <a:ext cx="91440" cy="9144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2" name="Shape 10"/>
          <p:cNvSpPr/>
          <p:nvPr/>
        </p:nvSpPr>
        <p:spPr>
          <a:xfrm>
            <a:off x="5394960" y="3200400"/>
            <a:ext cx="91440" cy="9144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3" name="Shape 11"/>
          <p:cNvSpPr/>
          <p:nvPr/>
        </p:nvSpPr>
        <p:spPr>
          <a:xfrm>
            <a:off x="5577840" y="3200400"/>
            <a:ext cx="91440" cy="91440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493008"/>
            <a:ext cx="499262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column_name  datatype  UNIQUE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or, for multiple columns: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 (col1, col2)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D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956048"/>
            <a:ext cx="5394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unique index internally for fast duplicate checks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can have multiple UNIQUE constraints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UNIQUE means the combination must be distinct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1572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D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1874520"/>
            <a:ext cx="5577840" cy="4572000"/>
          </a:xfrm>
          <a:prstGeom prst="roundRect">
            <a:avLst>
              <a:gd name="adj" fmla="val 1600"/>
            </a:avLst>
          </a:prstGeom>
          <a:solidFill>
            <a:srgbClr val="241014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874520"/>
            <a:ext cx="5577840" cy="310896"/>
          </a:xfrm>
          <a:prstGeom prst="roundRect">
            <a:avLst>
              <a:gd name="adj" fmla="val 23529"/>
            </a:avLst>
          </a:prstGeom>
          <a:solidFill>
            <a:srgbClr val="4A1220"/>
          </a:solidFill>
          <a:ln/>
        </p:spPr>
      </p:sp>
      <p:sp>
        <p:nvSpPr>
          <p:cNvPr id="20" name="Shape 18"/>
          <p:cNvSpPr/>
          <p:nvPr/>
        </p:nvSpPr>
        <p:spPr>
          <a:xfrm>
            <a:off x="6172200" y="2029968"/>
            <a:ext cx="5577840" cy="155448"/>
          </a:xfrm>
          <a:prstGeom prst="rect">
            <a:avLst/>
          </a:prstGeom>
          <a:solidFill>
            <a:srgbClr val="4A1220"/>
          </a:solidFill>
          <a:ln/>
        </p:spPr>
      </p:sp>
      <p:sp>
        <p:nvSpPr>
          <p:cNvPr id="21" name="Text 19"/>
          <p:cNvSpPr/>
          <p:nvPr/>
        </p:nvSpPr>
        <p:spPr>
          <a:xfrm>
            <a:off x="6336792" y="187452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— students table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109960" y="1984248"/>
            <a:ext cx="91440" cy="9144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292840" y="1984248"/>
            <a:ext cx="91440" cy="9144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4" name="Shape 22"/>
          <p:cNvSpPr/>
          <p:nvPr/>
        </p:nvSpPr>
        <p:spPr>
          <a:xfrm>
            <a:off x="11475720" y="1984248"/>
            <a:ext cx="91440" cy="91440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5" name="Text 23"/>
          <p:cNvSpPr/>
          <p:nvPr/>
        </p:nvSpPr>
        <p:spPr>
          <a:xfrm>
            <a:off x="6373368" y="2276856"/>
            <a:ext cx="5175504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Student (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roll_no   INT,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     VARCHAR(100) UNIQUE,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phone     VARCHAR(15) UNIQUE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Student VALUES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(2,'a@w.edu','9990001');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Student VALUES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(3,'a@w.edu','9990002');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ERROR: duplicate email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violates UNIQUE constraint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CONSTRAINT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D4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4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INTEGRITY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KEY Constraint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5394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Uniquely identifies every row in a table. It combines NOT NULL + UNIQUE, and a table can have only one primary key (single or composite).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D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090672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241014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3090672"/>
            <a:ext cx="5394960" cy="310896"/>
          </a:xfrm>
          <a:prstGeom prst="roundRect">
            <a:avLst>
              <a:gd name="adj" fmla="val 23529"/>
            </a:avLst>
          </a:prstGeom>
          <a:solidFill>
            <a:srgbClr val="4A122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3246120"/>
            <a:ext cx="5394960" cy="155448"/>
          </a:xfrm>
          <a:prstGeom prst="rect">
            <a:avLst/>
          </a:prstGeom>
          <a:solidFill>
            <a:srgbClr val="4A1220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3090672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— syntax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212080" y="3200400"/>
            <a:ext cx="91440" cy="9144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2" name="Shape 10"/>
          <p:cNvSpPr/>
          <p:nvPr/>
        </p:nvSpPr>
        <p:spPr>
          <a:xfrm>
            <a:off x="5394960" y="3200400"/>
            <a:ext cx="91440" cy="9144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3" name="Shape 11"/>
          <p:cNvSpPr/>
          <p:nvPr/>
        </p:nvSpPr>
        <p:spPr>
          <a:xfrm>
            <a:off x="5577840" y="3200400"/>
            <a:ext cx="91440" cy="91440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493008"/>
            <a:ext cx="499262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column_name  datatype  PRIMARY KEY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or, composite key: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 (col1, col2)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D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956048"/>
            <a:ext cx="5394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primary key per table (may span multiple columns)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indexed for fast lookups and joins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by FOREIGN KEYs in related tables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1572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D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1874520"/>
            <a:ext cx="5577840" cy="4572000"/>
          </a:xfrm>
          <a:prstGeom prst="roundRect">
            <a:avLst>
              <a:gd name="adj" fmla="val 1600"/>
            </a:avLst>
          </a:prstGeom>
          <a:solidFill>
            <a:srgbClr val="241014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874520"/>
            <a:ext cx="5577840" cy="310896"/>
          </a:xfrm>
          <a:prstGeom prst="roundRect">
            <a:avLst>
              <a:gd name="adj" fmla="val 23529"/>
            </a:avLst>
          </a:prstGeom>
          <a:solidFill>
            <a:srgbClr val="4A1220"/>
          </a:solidFill>
          <a:ln/>
        </p:spPr>
      </p:sp>
      <p:sp>
        <p:nvSpPr>
          <p:cNvPr id="20" name="Shape 18"/>
          <p:cNvSpPr/>
          <p:nvPr/>
        </p:nvSpPr>
        <p:spPr>
          <a:xfrm>
            <a:off x="6172200" y="2029968"/>
            <a:ext cx="5577840" cy="155448"/>
          </a:xfrm>
          <a:prstGeom prst="rect">
            <a:avLst/>
          </a:prstGeom>
          <a:solidFill>
            <a:srgbClr val="4A1220"/>
          </a:solidFill>
          <a:ln/>
        </p:spPr>
      </p:sp>
      <p:sp>
        <p:nvSpPr>
          <p:cNvPr id="21" name="Text 19"/>
          <p:cNvSpPr/>
          <p:nvPr/>
        </p:nvSpPr>
        <p:spPr>
          <a:xfrm>
            <a:off x="6336792" y="187452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— students table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109960" y="1984248"/>
            <a:ext cx="91440" cy="9144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292840" y="1984248"/>
            <a:ext cx="91440" cy="9144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4" name="Shape 22"/>
          <p:cNvSpPr/>
          <p:nvPr/>
        </p:nvSpPr>
        <p:spPr>
          <a:xfrm>
            <a:off x="11475720" y="1984248"/>
            <a:ext cx="91440" cy="91440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5" name="Text 23"/>
          <p:cNvSpPr/>
          <p:nvPr/>
        </p:nvSpPr>
        <p:spPr>
          <a:xfrm>
            <a:off x="6373368" y="2276856"/>
            <a:ext cx="5175504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Student (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roll_no   INT PRIMARY KEY,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 VARCHAR(50) NOT NULL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Student VALUES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(101, 'Ravi');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Student VALUES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(101, 'Meera');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ERROR: duplicate roll_no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Student VALUES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(NULL, 'Kiran');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ERROR: key cannot be NULL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CONSTRAINT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D4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4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FOREIGN KEY Constraint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5394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 column to the PRIMARY KEY of another table, ensuring every referenced value actually exists — no 'orphan' rows pointing to nothing.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D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090672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241014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3090672"/>
            <a:ext cx="5394960" cy="310896"/>
          </a:xfrm>
          <a:prstGeom prst="roundRect">
            <a:avLst>
              <a:gd name="adj" fmla="val 23529"/>
            </a:avLst>
          </a:prstGeom>
          <a:solidFill>
            <a:srgbClr val="4A122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3246120"/>
            <a:ext cx="5394960" cy="155448"/>
          </a:xfrm>
          <a:prstGeom prst="rect">
            <a:avLst/>
          </a:prstGeom>
          <a:solidFill>
            <a:srgbClr val="4A1220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3090672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— syntax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212080" y="3200400"/>
            <a:ext cx="91440" cy="9144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2" name="Shape 10"/>
          <p:cNvSpPr/>
          <p:nvPr/>
        </p:nvSpPr>
        <p:spPr>
          <a:xfrm>
            <a:off x="5394960" y="3200400"/>
            <a:ext cx="91440" cy="9144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3" name="Shape 11"/>
          <p:cNvSpPr/>
          <p:nvPr/>
        </p:nvSpPr>
        <p:spPr>
          <a:xfrm>
            <a:off x="5577840" y="3200400"/>
            <a:ext cx="91440" cy="91440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493008"/>
            <a:ext cx="499262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 KEY (col) REFERENCES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parent_table(parent_col)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[ON DELETE / ON UPDATE ...]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D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956048"/>
            <a:ext cx="5394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row can't be deleted/changed if child rows reference it — unless CASCADE is set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DELETE CASCADE / SET NULL / RESTRICT control the behaviour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one-to-many relationships between tables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1572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D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1874520"/>
            <a:ext cx="5577840" cy="4572000"/>
          </a:xfrm>
          <a:prstGeom prst="roundRect">
            <a:avLst>
              <a:gd name="adj" fmla="val 1600"/>
            </a:avLst>
          </a:prstGeom>
          <a:solidFill>
            <a:srgbClr val="241014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874520"/>
            <a:ext cx="5577840" cy="310896"/>
          </a:xfrm>
          <a:prstGeom prst="roundRect">
            <a:avLst>
              <a:gd name="adj" fmla="val 23529"/>
            </a:avLst>
          </a:prstGeom>
          <a:solidFill>
            <a:srgbClr val="4A1220"/>
          </a:solidFill>
          <a:ln/>
        </p:spPr>
      </p:sp>
      <p:sp>
        <p:nvSpPr>
          <p:cNvPr id="20" name="Shape 18"/>
          <p:cNvSpPr/>
          <p:nvPr/>
        </p:nvSpPr>
        <p:spPr>
          <a:xfrm>
            <a:off x="6172200" y="2029968"/>
            <a:ext cx="5577840" cy="155448"/>
          </a:xfrm>
          <a:prstGeom prst="rect">
            <a:avLst/>
          </a:prstGeom>
          <a:solidFill>
            <a:srgbClr val="4A1220"/>
          </a:solidFill>
          <a:ln/>
        </p:spPr>
      </p:sp>
      <p:sp>
        <p:nvSpPr>
          <p:cNvPr id="21" name="Text 19"/>
          <p:cNvSpPr/>
          <p:nvPr/>
        </p:nvSpPr>
        <p:spPr>
          <a:xfrm>
            <a:off x="6336792" y="187452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— enrollment references student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109960" y="1984248"/>
            <a:ext cx="91440" cy="9144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292840" y="1984248"/>
            <a:ext cx="91440" cy="9144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4" name="Shape 22"/>
          <p:cNvSpPr/>
          <p:nvPr/>
        </p:nvSpPr>
        <p:spPr>
          <a:xfrm>
            <a:off x="11475720" y="1984248"/>
            <a:ext cx="91440" cy="91440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5" name="Text 23"/>
          <p:cNvSpPr/>
          <p:nvPr/>
        </p:nvSpPr>
        <p:spPr>
          <a:xfrm>
            <a:off x="6373368" y="2276856"/>
            <a:ext cx="5175504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Enrollment (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enroll_id  INT PRIMARY KEY,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roll_no    INT,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course_id  INT,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(roll_no)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Student(roll_no)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DELETE CASCADE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Enrollment VALUES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(1, 999, 10);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ERROR: roll_no 999 does not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exist in Student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CONSTRAINT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D4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4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INTEGRITY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Constraint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5394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that a column's value satisfies a specific Boolean condition — enforcing custom business rules beyond data type alone.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D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090672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241014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3090672"/>
            <a:ext cx="5394960" cy="310896"/>
          </a:xfrm>
          <a:prstGeom prst="roundRect">
            <a:avLst>
              <a:gd name="adj" fmla="val 23529"/>
            </a:avLst>
          </a:prstGeom>
          <a:solidFill>
            <a:srgbClr val="4A122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3246120"/>
            <a:ext cx="5394960" cy="155448"/>
          </a:xfrm>
          <a:prstGeom prst="rect">
            <a:avLst/>
          </a:prstGeom>
          <a:solidFill>
            <a:srgbClr val="4A1220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3090672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— syntax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212080" y="3200400"/>
            <a:ext cx="91440" cy="9144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2" name="Shape 10"/>
          <p:cNvSpPr/>
          <p:nvPr/>
        </p:nvSpPr>
        <p:spPr>
          <a:xfrm>
            <a:off x="5394960" y="3200400"/>
            <a:ext cx="91440" cy="9144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3" name="Shape 11"/>
          <p:cNvSpPr/>
          <p:nvPr/>
        </p:nvSpPr>
        <p:spPr>
          <a:xfrm>
            <a:off x="5577840" y="3200400"/>
            <a:ext cx="91440" cy="91440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493008"/>
            <a:ext cx="499262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column_name datatype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CHECK (condition)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D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956048"/>
            <a:ext cx="5394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can reference one or several columns in the row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Table-level CHECK can compare multiple columns together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every INSERT and UPDATE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1572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D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1874520"/>
            <a:ext cx="5577840" cy="4572000"/>
          </a:xfrm>
          <a:prstGeom prst="roundRect">
            <a:avLst>
              <a:gd name="adj" fmla="val 1600"/>
            </a:avLst>
          </a:prstGeom>
          <a:solidFill>
            <a:srgbClr val="241014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874520"/>
            <a:ext cx="5577840" cy="310896"/>
          </a:xfrm>
          <a:prstGeom prst="roundRect">
            <a:avLst>
              <a:gd name="adj" fmla="val 23529"/>
            </a:avLst>
          </a:prstGeom>
          <a:solidFill>
            <a:srgbClr val="4A1220"/>
          </a:solidFill>
          <a:ln/>
        </p:spPr>
      </p:sp>
      <p:sp>
        <p:nvSpPr>
          <p:cNvPr id="20" name="Shape 18"/>
          <p:cNvSpPr/>
          <p:nvPr/>
        </p:nvSpPr>
        <p:spPr>
          <a:xfrm>
            <a:off x="6172200" y="2029968"/>
            <a:ext cx="5577840" cy="155448"/>
          </a:xfrm>
          <a:prstGeom prst="rect">
            <a:avLst/>
          </a:prstGeom>
          <a:solidFill>
            <a:srgbClr val="4A1220"/>
          </a:solidFill>
          <a:ln/>
        </p:spPr>
      </p:sp>
      <p:sp>
        <p:nvSpPr>
          <p:cNvPr id="21" name="Text 19"/>
          <p:cNvSpPr/>
          <p:nvPr/>
        </p:nvSpPr>
        <p:spPr>
          <a:xfrm>
            <a:off x="6336792" y="187452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— students table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109960" y="1984248"/>
            <a:ext cx="91440" cy="9144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292840" y="1984248"/>
            <a:ext cx="91440" cy="9144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4" name="Shape 22"/>
          <p:cNvSpPr/>
          <p:nvPr/>
        </p:nvSpPr>
        <p:spPr>
          <a:xfrm>
            <a:off x="11475720" y="1984248"/>
            <a:ext cx="91440" cy="91440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5" name="Text 23"/>
          <p:cNvSpPr/>
          <p:nvPr/>
        </p:nvSpPr>
        <p:spPr>
          <a:xfrm>
            <a:off x="6373368" y="2276856"/>
            <a:ext cx="5175504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Student (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roll_no  INT PRIMARY KEY,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marks    INT CHECK (marks BETWEEN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0 AND 100),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      INT CHECK (age &gt;= 17)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Student VALUES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(1, 105, 20);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ERROR: marks &gt; 100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Student VALUES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(2, 88, 19);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Accepted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CONSTRAINT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D4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4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INTEGRITY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Constraint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5394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Supplies an automatic value for a column when no value is given in an INSERT — keeping data complete without requiring every field to be typed explicitly.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D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090672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241014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3090672"/>
            <a:ext cx="5394960" cy="310896"/>
          </a:xfrm>
          <a:prstGeom prst="roundRect">
            <a:avLst>
              <a:gd name="adj" fmla="val 23529"/>
            </a:avLst>
          </a:prstGeom>
          <a:solidFill>
            <a:srgbClr val="4A122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3246120"/>
            <a:ext cx="5394960" cy="155448"/>
          </a:xfrm>
          <a:prstGeom prst="rect">
            <a:avLst/>
          </a:prstGeom>
          <a:solidFill>
            <a:srgbClr val="4A1220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3090672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— syntax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212080" y="3200400"/>
            <a:ext cx="91440" cy="9144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2" name="Shape 10"/>
          <p:cNvSpPr/>
          <p:nvPr/>
        </p:nvSpPr>
        <p:spPr>
          <a:xfrm>
            <a:off x="5394960" y="3200400"/>
            <a:ext cx="91440" cy="9144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3" name="Shape 11"/>
          <p:cNvSpPr/>
          <p:nvPr/>
        </p:nvSpPr>
        <p:spPr>
          <a:xfrm>
            <a:off x="5577840" y="3200400"/>
            <a:ext cx="91440" cy="91440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493008"/>
            <a:ext cx="499262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column_name datatype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default_value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D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956048"/>
            <a:ext cx="5394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only when the column is omitted (not for explicit NULL)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a literal, or an expression like CURRENT_DATE / CURRENT_TIMESTAMP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application-side logic for common defaults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1572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D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1874520"/>
            <a:ext cx="5577840" cy="4572000"/>
          </a:xfrm>
          <a:prstGeom prst="roundRect">
            <a:avLst>
              <a:gd name="adj" fmla="val 1600"/>
            </a:avLst>
          </a:prstGeom>
          <a:solidFill>
            <a:srgbClr val="241014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874520"/>
            <a:ext cx="5577840" cy="310896"/>
          </a:xfrm>
          <a:prstGeom prst="roundRect">
            <a:avLst>
              <a:gd name="adj" fmla="val 23529"/>
            </a:avLst>
          </a:prstGeom>
          <a:solidFill>
            <a:srgbClr val="4A1220"/>
          </a:solidFill>
          <a:ln/>
        </p:spPr>
      </p:sp>
      <p:sp>
        <p:nvSpPr>
          <p:cNvPr id="20" name="Shape 18"/>
          <p:cNvSpPr/>
          <p:nvPr/>
        </p:nvSpPr>
        <p:spPr>
          <a:xfrm>
            <a:off x="6172200" y="2029968"/>
            <a:ext cx="5577840" cy="155448"/>
          </a:xfrm>
          <a:prstGeom prst="rect">
            <a:avLst/>
          </a:prstGeom>
          <a:solidFill>
            <a:srgbClr val="4A1220"/>
          </a:solidFill>
          <a:ln/>
        </p:spPr>
      </p:sp>
      <p:sp>
        <p:nvSpPr>
          <p:cNvPr id="21" name="Text 19"/>
          <p:cNvSpPr/>
          <p:nvPr/>
        </p:nvSpPr>
        <p:spPr>
          <a:xfrm>
            <a:off x="6336792" y="187452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— students table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109960" y="1984248"/>
            <a:ext cx="91440" cy="9144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292840" y="1984248"/>
            <a:ext cx="91440" cy="9144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4" name="Shape 22"/>
          <p:cNvSpPr/>
          <p:nvPr/>
        </p:nvSpPr>
        <p:spPr>
          <a:xfrm>
            <a:off x="11475720" y="1984248"/>
            <a:ext cx="91440" cy="91440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5" name="Text 23"/>
          <p:cNvSpPr/>
          <p:nvPr/>
        </p:nvSpPr>
        <p:spPr>
          <a:xfrm>
            <a:off x="6373368" y="2276856"/>
            <a:ext cx="5175504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Student (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roll_no    INT PRIMARY KEY,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  VARCHAR(50),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    VARCHAR(10)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DEFAULT 'ACTIVE',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join_date  DATE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DEFAULT CURRENT_DATE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Student(roll_no,name)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VALUES (1, 'Ravi');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8B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status = 'ACTIVE',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8B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join_date = today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CONSTRAINT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D4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4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Combining Constraints in One Table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schemas layer several constraints on the same CREATE TABLE statement. Each rule protects a different aspect of data quality at once.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6D1B2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65176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roll_no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93392" y="267004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749040" y="267004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integrity — unique row ID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163824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6D1B2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16382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93392" y="318211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749040" y="318211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— must always be supplied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675888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6D1B2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67588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93392" y="3694176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749040" y="369417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— no two students share an email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187952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6D1B2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18795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93392" y="42062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(0–100)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749040" y="42062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— valid range only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700016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6D1B2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700016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dept_id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93392" y="471830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 KEY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749040" y="471830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— must exist in Department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5212080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6D1B2F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521208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993392" y="523036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 'ACTIVE'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749040" y="523036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— auto-filled if omitted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72200" y="1572768"/>
            <a:ext cx="5577840" cy="4846320"/>
          </a:xfrm>
          <a:prstGeom prst="roundRect">
            <a:avLst>
              <a:gd name="adj" fmla="val 1509"/>
            </a:avLst>
          </a:prstGeom>
          <a:solidFill>
            <a:srgbClr val="241014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1572768"/>
            <a:ext cx="5577840" cy="310896"/>
          </a:xfrm>
          <a:prstGeom prst="roundRect">
            <a:avLst>
              <a:gd name="adj" fmla="val 23529"/>
            </a:avLst>
          </a:prstGeom>
          <a:solidFill>
            <a:srgbClr val="4A1220"/>
          </a:solidFill>
          <a:ln/>
        </p:spPr>
      </p:sp>
      <p:sp>
        <p:nvSpPr>
          <p:cNvPr id="32" name="Shape 30"/>
          <p:cNvSpPr/>
          <p:nvPr/>
        </p:nvSpPr>
        <p:spPr>
          <a:xfrm>
            <a:off x="6172200" y="1728216"/>
            <a:ext cx="5577840" cy="155448"/>
          </a:xfrm>
          <a:prstGeom prst="rect">
            <a:avLst/>
          </a:prstGeom>
          <a:solidFill>
            <a:srgbClr val="4A1220"/>
          </a:solidFill>
          <a:ln/>
        </p:spPr>
      </p:sp>
      <p:sp>
        <p:nvSpPr>
          <p:cNvPr id="33" name="Text 31"/>
          <p:cNvSpPr/>
          <p:nvPr/>
        </p:nvSpPr>
        <p:spPr>
          <a:xfrm>
            <a:off x="6336792" y="157276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— full schema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1109960" y="1682496"/>
            <a:ext cx="91440" cy="9144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35" name="Shape 33"/>
          <p:cNvSpPr/>
          <p:nvPr/>
        </p:nvSpPr>
        <p:spPr>
          <a:xfrm>
            <a:off x="11292840" y="1682496"/>
            <a:ext cx="91440" cy="9144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36" name="Shape 34"/>
          <p:cNvSpPr/>
          <p:nvPr/>
        </p:nvSpPr>
        <p:spPr>
          <a:xfrm>
            <a:off x="11475720" y="1682496"/>
            <a:ext cx="91440" cy="91440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37" name="Text 35"/>
          <p:cNvSpPr/>
          <p:nvPr/>
        </p:nvSpPr>
        <p:spPr>
          <a:xfrm>
            <a:off x="6373368" y="1975104"/>
            <a:ext cx="517550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Student (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roll_no   INT PRIMARY KEY,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 VARCHAR(50) NOT NULL,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     VARCHAR(100) UNIQUE,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marks     INT CHECK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(marks BETWEEN 0 AND 100),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dept_id   INT,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   VARCHAR(10)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DEFAULT 'ACTIVE',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(dept_id)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Department(dept_id)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DELETE SET NULL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CONSTRAINTS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D4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4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CONSTRAINTS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&amp; Dropping Constraints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don't have to be defined only at CREATE TABLE time — ALTER TABLE lets you add, name, or remove them from an existing table.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241014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331720"/>
            <a:ext cx="5394960" cy="310896"/>
          </a:xfrm>
          <a:prstGeom prst="roundRect">
            <a:avLst>
              <a:gd name="adj" fmla="val 23529"/>
            </a:avLst>
          </a:prstGeom>
          <a:solidFill>
            <a:srgbClr val="4A1220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487168"/>
            <a:ext cx="5394960" cy="155448"/>
          </a:xfrm>
          <a:prstGeom prst="rect">
            <a:avLst/>
          </a:prstGeom>
          <a:solidFill>
            <a:srgbClr val="4A1220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233172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— add constraints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212080" y="2441448"/>
            <a:ext cx="91440" cy="9144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1" name="Shape 9"/>
          <p:cNvSpPr/>
          <p:nvPr/>
        </p:nvSpPr>
        <p:spPr>
          <a:xfrm>
            <a:off x="5394960" y="2441448"/>
            <a:ext cx="91440" cy="9144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2" name="Shape 10"/>
          <p:cNvSpPr/>
          <p:nvPr/>
        </p:nvSpPr>
        <p:spPr>
          <a:xfrm>
            <a:off x="5577840" y="2441448"/>
            <a:ext cx="91440" cy="91440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734056"/>
            <a:ext cx="4992624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Add a CHECK to an existing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column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Student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 CONSTRAINT chk_marks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CHECK (marks BETWEEN 0 AND 100);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Add a FOREIGN KEY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Student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 CONSTRAINT fk_dept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(dept_id)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REFERENCES Department(dept_id);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Add UNIQUE to a column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Student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 CONSTRAINT uq_email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UNIQUE (email);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2331720"/>
            <a:ext cx="5577840" cy="3977640"/>
          </a:xfrm>
          <a:prstGeom prst="roundRect">
            <a:avLst>
              <a:gd name="adj" fmla="val 1839"/>
            </a:avLst>
          </a:prstGeom>
          <a:solidFill>
            <a:srgbClr val="241014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2331720"/>
            <a:ext cx="5577840" cy="310896"/>
          </a:xfrm>
          <a:prstGeom prst="roundRect">
            <a:avLst>
              <a:gd name="adj" fmla="val 23529"/>
            </a:avLst>
          </a:prstGeom>
          <a:solidFill>
            <a:srgbClr val="4A1220"/>
          </a:solidFill>
          <a:ln/>
        </p:spPr>
      </p:sp>
      <p:sp>
        <p:nvSpPr>
          <p:cNvPr id="16" name="Shape 14"/>
          <p:cNvSpPr/>
          <p:nvPr/>
        </p:nvSpPr>
        <p:spPr>
          <a:xfrm>
            <a:off x="6172200" y="2487168"/>
            <a:ext cx="5577840" cy="155448"/>
          </a:xfrm>
          <a:prstGeom prst="rect">
            <a:avLst/>
          </a:prstGeom>
          <a:solidFill>
            <a:srgbClr val="4A1220"/>
          </a:solidFill>
          <a:ln/>
        </p:spPr>
      </p:sp>
      <p:sp>
        <p:nvSpPr>
          <p:cNvPr id="17" name="Text 15"/>
          <p:cNvSpPr/>
          <p:nvPr/>
        </p:nvSpPr>
        <p:spPr>
          <a:xfrm>
            <a:off x="6336792" y="233172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— drop constraints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1109960" y="2441448"/>
            <a:ext cx="91440" cy="9144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9" name="Shape 17"/>
          <p:cNvSpPr/>
          <p:nvPr/>
        </p:nvSpPr>
        <p:spPr>
          <a:xfrm>
            <a:off x="11292840" y="2441448"/>
            <a:ext cx="91440" cy="9144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75720" y="2441448"/>
            <a:ext cx="91440" cy="91440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1" name="Text 19"/>
          <p:cNvSpPr/>
          <p:nvPr/>
        </p:nvSpPr>
        <p:spPr>
          <a:xfrm>
            <a:off x="6373368" y="2734056"/>
            <a:ext cx="5175504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Drop a named constraint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Student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DROP CONSTRAINT chk_marks;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MySQL syntax differs slightly: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Student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DROP FOREIGN KEY fk_dept;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Student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DROP INDEX uq_email;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8B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Always name constraints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8B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(CONSTRAINT name) so they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8B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can be dropped or altered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8B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individually later.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CONSTRAINTS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4114800"/>
            <a:ext cx="6400800" cy="6400800"/>
          </a:xfrm>
          <a:prstGeom prst="ellipse">
            <a:avLst/>
          </a:prstGeom>
          <a:solidFill>
            <a:srgbClr val="6D1B2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D4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4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 Constraints at a Glance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2377440" cy="566928"/>
          </a:xfrm>
          <a:prstGeom prst="rect">
            <a:avLst/>
          </a:prstGeom>
          <a:solidFill>
            <a:srgbClr val="6D1B2F"/>
          </a:solidFill>
          <a:ln w="9525">
            <a:solidFill>
              <a:srgbClr val="7A2C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91640"/>
            <a:ext cx="21579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8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017520" y="1691640"/>
            <a:ext cx="2377440" cy="566928"/>
          </a:xfrm>
          <a:prstGeom prst="rect">
            <a:avLst/>
          </a:prstGeom>
          <a:solidFill>
            <a:srgbClr val="6D1B2F"/>
          </a:solidFill>
          <a:ln w="9525">
            <a:solidFill>
              <a:srgbClr val="7A2C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27248" y="1691640"/>
            <a:ext cx="21579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394960" y="1691640"/>
            <a:ext cx="3291840" cy="566928"/>
          </a:xfrm>
          <a:prstGeom prst="rect">
            <a:avLst/>
          </a:prstGeom>
          <a:solidFill>
            <a:srgbClr val="6D1B2F"/>
          </a:solidFill>
          <a:ln w="9525">
            <a:solidFill>
              <a:srgbClr val="7A2C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04688" y="1691640"/>
            <a:ext cx="30723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Duplicates?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0" y="1691640"/>
            <a:ext cx="3017520" cy="566928"/>
          </a:xfrm>
          <a:prstGeom prst="rect">
            <a:avLst/>
          </a:prstGeom>
          <a:solidFill>
            <a:srgbClr val="6D1B2F"/>
          </a:solidFill>
          <a:ln w="9525">
            <a:solidFill>
              <a:srgbClr val="7A2C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96528" y="1691640"/>
            <a:ext cx="27980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NULL?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2258568"/>
            <a:ext cx="2377440" cy="566928"/>
          </a:xfrm>
          <a:prstGeom prst="rect">
            <a:avLst/>
          </a:prstGeom>
          <a:solidFill>
            <a:srgbClr val="4A1220"/>
          </a:solidFill>
          <a:ln w="9525">
            <a:solidFill>
              <a:srgbClr val="7A2C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258568"/>
            <a:ext cx="21579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017520" y="2258568"/>
            <a:ext cx="2377440" cy="566928"/>
          </a:xfrm>
          <a:prstGeom prst="rect">
            <a:avLst/>
          </a:prstGeom>
          <a:solidFill>
            <a:srgbClr val="4A1220"/>
          </a:solidFill>
          <a:ln w="9525">
            <a:solidFill>
              <a:srgbClr val="7A2C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27248" y="2258568"/>
            <a:ext cx="21579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394960" y="2258568"/>
            <a:ext cx="3291840" cy="566928"/>
          </a:xfrm>
          <a:prstGeom prst="rect">
            <a:avLst/>
          </a:prstGeom>
          <a:solidFill>
            <a:srgbClr val="4A1220"/>
          </a:solidFill>
          <a:ln w="9525">
            <a:solidFill>
              <a:srgbClr val="7A2C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04688" y="2258568"/>
            <a:ext cx="30723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686800" y="2258568"/>
            <a:ext cx="3017520" cy="566928"/>
          </a:xfrm>
          <a:prstGeom prst="rect">
            <a:avLst/>
          </a:prstGeom>
          <a:solidFill>
            <a:srgbClr val="4A1220"/>
          </a:solidFill>
          <a:ln w="9525">
            <a:solidFill>
              <a:srgbClr val="7A2C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96528" y="2258568"/>
            <a:ext cx="27980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2825496"/>
            <a:ext cx="2377440" cy="566928"/>
          </a:xfrm>
          <a:prstGeom prst="rect">
            <a:avLst/>
          </a:prstGeom>
          <a:solidFill>
            <a:srgbClr val="5A1626"/>
          </a:solidFill>
          <a:ln w="9525">
            <a:solidFill>
              <a:srgbClr val="7A2C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2825496"/>
            <a:ext cx="21579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017520" y="2825496"/>
            <a:ext cx="2377440" cy="566928"/>
          </a:xfrm>
          <a:prstGeom prst="rect">
            <a:avLst/>
          </a:prstGeom>
          <a:solidFill>
            <a:srgbClr val="5A1626"/>
          </a:solidFill>
          <a:ln w="9525">
            <a:solidFill>
              <a:srgbClr val="7A2C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27248" y="2825496"/>
            <a:ext cx="21579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394960" y="2825496"/>
            <a:ext cx="3291840" cy="566928"/>
          </a:xfrm>
          <a:prstGeom prst="rect">
            <a:avLst/>
          </a:prstGeom>
          <a:solidFill>
            <a:srgbClr val="5A1626"/>
          </a:solidFill>
          <a:ln w="9525">
            <a:solidFill>
              <a:srgbClr val="7A2C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04688" y="2825496"/>
            <a:ext cx="30723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686800" y="2825496"/>
            <a:ext cx="3017520" cy="566928"/>
          </a:xfrm>
          <a:prstGeom prst="rect">
            <a:avLst/>
          </a:prstGeom>
          <a:solidFill>
            <a:srgbClr val="5A1626"/>
          </a:solidFill>
          <a:ln w="9525">
            <a:solidFill>
              <a:srgbClr val="7A2C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96528" y="2825496"/>
            <a:ext cx="27980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(once)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" y="3392424"/>
            <a:ext cx="2377440" cy="566928"/>
          </a:xfrm>
          <a:prstGeom prst="rect">
            <a:avLst/>
          </a:prstGeom>
          <a:solidFill>
            <a:srgbClr val="4A1220"/>
          </a:solidFill>
          <a:ln w="9525">
            <a:solidFill>
              <a:srgbClr val="7A2C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3392424"/>
            <a:ext cx="21579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017520" y="3392424"/>
            <a:ext cx="2377440" cy="566928"/>
          </a:xfrm>
          <a:prstGeom prst="rect">
            <a:avLst/>
          </a:prstGeom>
          <a:solidFill>
            <a:srgbClr val="4A1220"/>
          </a:solidFill>
          <a:ln w="9525">
            <a:solidFill>
              <a:srgbClr val="7A2C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27248" y="3392424"/>
            <a:ext cx="21579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394960" y="3392424"/>
            <a:ext cx="3291840" cy="566928"/>
          </a:xfrm>
          <a:prstGeom prst="rect">
            <a:avLst/>
          </a:prstGeom>
          <a:solidFill>
            <a:srgbClr val="4A1220"/>
          </a:solidFill>
          <a:ln w="9525">
            <a:solidFill>
              <a:srgbClr val="7A2C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04688" y="3392424"/>
            <a:ext cx="30723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686800" y="3392424"/>
            <a:ext cx="3017520" cy="566928"/>
          </a:xfrm>
          <a:prstGeom prst="rect">
            <a:avLst/>
          </a:prstGeom>
          <a:solidFill>
            <a:srgbClr val="4A1220"/>
          </a:solidFill>
          <a:ln w="9525">
            <a:solidFill>
              <a:srgbClr val="7A2C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96528" y="3392424"/>
            <a:ext cx="27980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40080" y="3959352"/>
            <a:ext cx="2377440" cy="566928"/>
          </a:xfrm>
          <a:prstGeom prst="rect">
            <a:avLst/>
          </a:prstGeom>
          <a:solidFill>
            <a:srgbClr val="5A1626"/>
          </a:solidFill>
          <a:ln w="9525">
            <a:solidFill>
              <a:srgbClr val="7A2C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959352"/>
            <a:ext cx="21579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3017520" y="3959352"/>
            <a:ext cx="2377440" cy="566928"/>
          </a:xfrm>
          <a:prstGeom prst="rect">
            <a:avLst/>
          </a:prstGeom>
          <a:solidFill>
            <a:srgbClr val="5A1626"/>
          </a:solidFill>
          <a:ln w="9525">
            <a:solidFill>
              <a:srgbClr val="7A2C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27248" y="3959352"/>
            <a:ext cx="21579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394960" y="3959352"/>
            <a:ext cx="3291840" cy="566928"/>
          </a:xfrm>
          <a:prstGeom prst="rect">
            <a:avLst/>
          </a:prstGeom>
          <a:solidFill>
            <a:srgbClr val="5A1626"/>
          </a:solidFill>
          <a:ln w="9525">
            <a:solidFill>
              <a:srgbClr val="7A2C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04688" y="3959352"/>
            <a:ext cx="30723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8686800" y="3959352"/>
            <a:ext cx="3017520" cy="566928"/>
          </a:xfrm>
          <a:prstGeom prst="rect">
            <a:avLst/>
          </a:prstGeom>
          <a:solidFill>
            <a:srgbClr val="5A1626"/>
          </a:solidFill>
          <a:ln w="9525">
            <a:solidFill>
              <a:srgbClr val="7A2C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796528" y="3959352"/>
            <a:ext cx="27980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640080" y="4526280"/>
            <a:ext cx="2377440" cy="566928"/>
          </a:xfrm>
          <a:prstGeom prst="rect">
            <a:avLst/>
          </a:prstGeom>
          <a:solidFill>
            <a:srgbClr val="4A1220"/>
          </a:solidFill>
          <a:ln w="9525">
            <a:solidFill>
              <a:srgbClr val="7A2C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9808" y="4526280"/>
            <a:ext cx="21579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3017520" y="4526280"/>
            <a:ext cx="2377440" cy="566928"/>
          </a:xfrm>
          <a:prstGeom prst="rect">
            <a:avLst/>
          </a:prstGeom>
          <a:solidFill>
            <a:srgbClr val="4A1220"/>
          </a:solidFill>
          <a:ln w="9525">
            <a:solidFill>
              <a:srgbClr val="7A2C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27248" y="4526280"/>
            <a:ext cx="21579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5394960" y="4526280"/>
            <a:ext cx="3291840" cy="566928"/>
          </a:xfrm>
          <a:prstGeom prst="rect">
            <a:avLst/>
          </a:prstGeom>
          <a:solidFill>
            <a:srgbClr val="4A1220"/>
          </a:solidFill>
          <a:ln w="9525">
            <a:solidFill>
              <a:srgbClr val="7A2C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04688" y="4526280"/>
            <a:ext cx="30723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rule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8686800" y="4526280"/>
            <a:ext cx="3017520" cy="566928"/>
          </a:xfrm>
          <a:prstGeom prst="rect">
            <a:avLst/>
          </a:prstGeom>
          <a:solidFill>
            <a:srgbClr val="4A1220"/>
          </a:solidFill>
          <a:ln w="9525">
            <a:solidFill>
              <a:srgbClr val="7A2C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796528" y="4526280"/>
            <a:ext cx="27980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rule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640080" y="5093208"/>
            <a:ext cx="2377440" cy="566928"/>
          </a:xfrm>
          <a:prstGeom prst="rect">
            <a:avLst/>
          </a:prstGeom>
          <a:solidFill>
            <a:srgbClr val="5A1626"/>
          </a:solidFill>
          <a:ln w="9525">
            <a:solidFill>
              <a:srgbClr val="7A2C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9808" y="5093208"/>
            <a:ext cx="21579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3017520" y="5093208"/>
            <a:ext cx="2377440" cy="566928"/>
          </a:xfrm>
          <a:prstGeom prst="rect">
            <a:avLst/>
          </a:prstGeom>
          <a:solidFill>
            <a:srgbClr val="5A1626"/>
          </a:solidFill>
          <a:ln w="9525">
            <a:solidFill>
              <a:srgbClr val="7A2C3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27248" y="5093208"/>
            <a:ext cx="21579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5394960" y="5093208"/>
            <a:ext cx="3291840" cy="566928"/>
          </a:xfrm>
          <a:prstGeom prst="rect">
            <a:avLst/>
          </a:prstGeom>
          <a:solidFill>
            <a:srgbClr val="5A1626"/>
          </a:solidFill>
          <a:ln w="9525">
            <a:solidFill>
              <a:srgbClr val="7A2C3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04688" y="5093208"/>
            <a:ext cx="30723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8686800" y="5093208"/>
            <a:ext cx="3017520" cy="566928"/>
          </a:xfrm>
          <a:prstGeom prst="rect">
            <a:avLst/>
          </a:prstGeom>
          <a:solidFill>
            <a:srgbClr val="5A1626"/>
          </a:solidFill>
          <a:ln w="9525">
            <a:solidFill>
              <a:srgbClr val="7A2C3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796528" y="5093208"/>
            <a:ext cx="27980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(fills gaps)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640080" y="5980176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8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PRIMARY KEY = NOT NULL + UNIQUE, applied to the column(s) that identify each row.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CONSTRAINTS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2026-08-02T12:20:10Z</dcterms:created>
  <dcterms:modified xsi:type="dcterms:W3CDTF">2026-08-02T12:20:10Z</dcterms:modified>
</cp:coreProperties>
</file>