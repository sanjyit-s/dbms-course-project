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12192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023360"/>
            <a:ext cx="3291840" cy="3291840"/>
          </a:xfrm>
          <a:prstGeom prst="ellipse">
            <a:avLst/>
          </a:prstGeom>
          <a:solidFill>
            <a:srgbClr val="232C63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5120640"/>
            <a:ext cx="2926080" cy="2926080"/>
          </a:xfrm>
          <a:prstGeom prst="ellipse">
            <a:avLst/>
          </a:prstGeom>
          <a:solidFill>
            <a:srgbClr val="232C6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3232" y="173736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Management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• ACID Properties • Lock-Based Protocols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3611880"/>
            <a:ext cx="2011680" cy="0"/>
          </a:xfrm>
          <a:prstGeom prst="line">
            <a:avLst/>
          </a:prstGeom>
          <a:noFill/>
          <a:ln w="31750">
            <a:solidFill>
              <a:srgbClr val="D4A0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80644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Kiran Mayee Adavala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  |  CSE (AI&amp;ML)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63550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Woxsen University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F2D9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2DA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94767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00200" y="19659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Basics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2350008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transaction is, and the states it moves through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2DA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194767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269480" y="19659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Properties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269480" y="2350008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guarantees every transaction must satisfy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2DA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350215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600200" y="352044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Problems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00200" y="3904488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wrong when transactions interleave unchecked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7920" y="33375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2DA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46520" y="350215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269480" y="352044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&amp; Exclusive Locks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269480" y="3904488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 mechanism behind lock-based concurrency control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8920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2DA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" y="505663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600200" y="507492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Locking (2PL)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600200" y="5458968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protocol that guarantees serializable schedules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17920" y="48920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2DA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46520" y="505663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269480" y="507492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2PL Variants &amp; Deadlock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269480" y="5458968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Strict/rigorous locking, and the cost of using locks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 |  Transaction Management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F2D9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Transaction?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transaction is a single logical unit of work made up of one or more database operations (reads and writes), which the system must execute as an indivisible whole.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example: transferring money between two bank accounts — the debit and the credit must both happen, or neither should.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040880" y="1691640"/>
            <a:ext cx="4572000" cy="4023360"/>
          </a:xfrm>
          <a:prstGeom prst="roundRect">
            <a:avLst>
              <a:gd name="adj" fmla="val 2273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269480" y="1920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 TRANSACTION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269480" y="2331720"/>
            <a:ext cx="4114800" cy="384048"/>
          </a:xfrm>
          <a:prstGeom prst="roundRect">
            <a:avLst>
              <a:gd name="adj" fmla="val 11905"/>
            </a:avLst>
          </a:prstGeom>
          <a:solidFill>
            <a:srgbClr val="232C63"/>
          </a:solidFill>
          <a:ln/>
        </p:spPr>
      </p:sp>
      <p:sp>
        <p:nvSpPr>
          <p:cNvPr id="10" name="Text 8"/>
          <p:cNvSpPr/>
          <p:nvPr/>
        </p:nvSpPr>
        <p:spPr>
          <a:xfrm>
            <a:off x="7452360" y="23317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Read(A)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269480" y="2807208"/>
            <a:ext cx="4114800" cy="384048"/>
          </a:xfrm>
          <a:prstGeom prst="roundRect">
            <a:avLst>
              <a:gd name="adj" fmla="val 11905"/>
            </a:avLst>
          </a:prstGeom>
          <a:solidFill>
            <a:srgbClr val="232C63"/>
          </a:solidFill>
          <a:ln/>
        </p:spPr>
      </p:sp>
      <p:sp>
        <p:nvSpPr>
          <p:cNvPr id="12" name="Text 10"/>
          <p:cNvSpPr/>
          <p:nvPr/>
        </p:nvSpPr>
        <p:spPr>
          <a:xfrm>
            <a:off x="7452360" y="28072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:= A − 500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269480" y="3282696"/>
            <a:ext cx="4114800" cy="384048"/>
          </a:xfrm>
          <a:prstGeom prst="roundRect">
            <a:avLst>
              <a:gd name="adj" fmla="val 11905"/>
            </a:avLst>
          </a:prstGeom>
          <a:solidFill>
            <a:srgbClr val="232C63"/>
          </a:solidFill>
          <a:ln/>
        </p:spPr>
      </p:sp>
      <p:sp>
        <p:nvSpPr>
          <p:cNvPr id="14" name="Text 12"/>
          <p:cNvSpPr/>
          <p:nvPr/>
        </p:nvSpPr>
        <p:spPr>
          <a:xfrm>
            <a:off x="7452360" y="328269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Write(A)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269480" y="3758184"/>
            <a:ext cx="4114800" cy="384048"/>
          </a:xfrm>
          <a:prstGeom prst="roundRect">
            <a:avLst>
              <a:gd name="adj" fmla="val 11905"/>
            </a:avLst>
          </a:prstGeom>
          <a:solidFill>
            <a:srgbClr val="232C63"/>
          </a:solidFill>
          <a:ln/>
        </p:spPr>
      </p:sp>
      <p:sp>
        <p:nvSpPr>
          <p:cNvPr id="16" name="Text 14"/>
          <p:cNvSpPr/>
          <p:nvPr/>
        </p:nvSpPr>
        <p:spPr>
          <a:xfrm>
            <a:off x="7452360" y="375818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Read(B)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69480" y="4233672"/>
            <a:ext cx="4114800" cy="384048"/>
          </a:xfrm>
          <a:prstGeom prst="roundRect">
            <a:avLst>
              <a:gd name="adj" fmla="val 11905"/>
            </a:avLst>
          </a:prstGeom>
          <a:solidFill>
            <a:srgbClr val="232C63"/>
          </a:solidFill>
          <a:ln/>
        </p:spPr>
      </p:sp>
      <p:sp>
        <p:nvSpPr>
          <p:cNvPr id="18" name="Text 16"/>
          <p:cNvSpPr/>
          <p:nvPr/>
        </p:nvSpPr>
        <p:spPr>
          <a:xfrm>
            <a:off x="7452360" y="42336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:= B + 500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69480" y="4709160"/>
            <a:ext cx="4114800" cy="384048"/>
          </a:xfrm>
          <a:prstGeom prst="roundRect">
            <a:avLst>
              <a:gd name="adj" fmla="val 11905"/>
            </a:avLst>
          </a:prstGeom>
          <a:solidFill>
            <a:srgbClr val="232C63"/>
          </a:solidFill>
          <a:ln/>
        </p:spPr>
      </p:sp>
      <p:sp>
        <p:nvSpPr>
          <p:cNvPr id="20" name="Text 18"/>
          <p:cNvSpPr/>
          <p:nvPr/>
        </p:nvSpPr>
        <p:spPr>
          <a:xfrm>
            <a:off x="7452360" y="47091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Write(B)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69480" y="52578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 |  Transaction Management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F2D9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States of a Transaction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1737360" cy="594360"/>
          </a:xfrm>
          <a:prstGeom prst="roundRect">
            <a:avLst>
              <a:gd name="adj" fmla="val 15385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74320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91840" y="2743200"/>
            <a:ext cx="1920240" cy="594360"/>
          </a:xfrm>
          <a:prstGeom prst="roundRect">
            <a:avLst>
              <a:gd name="adj" fmla="val 15385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27432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0" y="1920240"/>
            <a:ext cx="1920240" cy="594360"/>
          </a:xfrm>
          <a:prstGeom prst="roundRect">
            <a:avLst>
              <a:gd name="adj" fmla="val 15385"/>
            </a:avLst>
          </a:prstGeom>
          <a:solidFill>
            <a:srgbClr val="1E6B3A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0" y="19202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0" y="3566160"/>
            <a:ext cx="1737360" cy="594360"/>
          </a:xfrm>
          <a:prstGeom prst="roundRect">
            <a:avLst>
              <a:gd name="adj" fmla="val 15385"/>
            </a:avLst>
          </a:prstGeom>
          <a:solidFill>
            <a:srgbClr val="8A1F2B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356616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503920" y="3566160"/>
            <a:ext cx="1737360" cy="594360"/>
          </a:xfrm>
          <a:prstGeom prst="roundRect">
            <a:avLst>
              <a:gd name="adj" fmla="val 15385"/>
            </a:avLst>
          </a:prstGeom>
          <a:solidFill>
            <a:srgbClr val="8A1F2B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356616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Aborted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606040" y="2944368"/>
            <a:ext cx="640080" cy="201168"/>
          </a:xfrm>
          <a:prstGeom prst="rightArrow">
            <a:avLst/>
          </a:prstGeom>
          <a:solidFill>
            <a:srgbClr val="D4A017"/>
          </a:solidFill>
          <a:ln/>
        </p:spPr>
      </p:sp>
      <p:sp>
        <p:nvSpPr>
          <p:cNvPr id="16" name="Shape 14"/>
          <p:cNvSpPr/>
          <p:nvPr/>
        </p:nvSpPr>
        <p:spPr>
          <a:xfrm>
            <a:off x="5257800" y="2377440"/>
            <a:ext cx="621792" cy="201168"/>
          </a:xfrm>
          <a:prstGeom prst="rightArrow">
            <a:avLst/>
          </a:prstGeom>
          <a:solidFill>
            <a:srgbClr val="D4A017"/>
          </a:solidFill>
          <a:ln/>
        </p:spPr>
      </p:sp>
      <p:sp>
        <p:nvSpPr>
          <p:cNvPr id="17" name="Shape 15"/>
          <p:cNvSpPr/>
          <p:nvPr/>
        </p:nvSpPr>
        <p:spPr>
          <a:xfrm rot="1500000">
            <a:off x="5257800" y="3246120"/>
            <a:ext cx="621792" cy="201168"/>
          </a:xfrm>
          <a:prstGeom prst="rightArrow">
            <a:avLst/>
          </a:prstGeom>
          <a:solidFill>
            <a:srgbClr val="8A1F2B"/>
          </a:solidFill>
          <a:ln/>
        </p:spPr>
      </p:sp>
      <p:sp>
        <p:nvSpPr>
          <p:cNvPr id="18" name="Shape 16"/>
          <p:cNvSpPr/>
          <p:nvPr/>
        </p:nvSpPr>
        <p:spPr>
          <a:xfrm>
            <a:off x="7726680" y="3767328"/>
            <a:ext cx="713232" cy="201168"/>
          </a:xfrm>
          <a:prstGeom prst="rightArrow">
            <a:avLst/>
          </a:prstGeom>
          <a:solidFill>
            <a:srgbClr val="D4A017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24231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(begin)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443484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Active:  </a:t>
            </a:r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are being executed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4745736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Committed:  </a:t>
            </a:r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statement executed, but not yet permanently recorded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5056632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Committed:  </a:t>
            </a:r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completed successfully; changes are permanent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536752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Failed:  </a:t>
            </a:r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execution can no longer proceed (e.g. a crash or constraint violation)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5678424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Aborted:  </a:t>
            </a:r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rolled back; database restored to its state before the transaction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 |  Transaction Management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2B337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2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GUARANTEES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ACID Properties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6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transaction the DBMS executes must uphold all four — together, they define what “correct” execution means.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2606040" cy="3657600"/>
          </a:xfrm>
          <a:prstGeom prst="roundRect">
            <a:avLst>
              <a:gd name="adj" fmla="val 3509"/>
            </a:avLst>
          </a:prstGeom>
          <a:solidFill>
            <a:srgbClr val="232C63"/>
          </a:solidFill>
          <a:ln w="12700">
            <a:solidFill>
              <a:srgbClr val="3B437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85900" y="260604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</p:sp>
      <p:sp>
        <p:nvSpPr>
          <p:cNvPr id="8" name="Text 6"/>
          <p:cNvSpPr/>
          <p:nvPr/>
        </p:nvSpPr>
        <p:spPr>
          <a:xfrm>
            <a:off x="1485900" y="2606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402336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6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a transaction's operations happen, or none do — no partial execution.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29000" y="2331720"/>
            <a:ext cx="2606040" cy="3657600"/>
          </a:xfrm>
          <a:prstGeom prst="roundRect">
            <a:avLst>
              <a:gd name="adj" fmla="val 3509"/>
            </a:avLst>
          </a:prstGeom>
          <a:solidFill>
            <a:srgbClr val="232C63"/>
          </a:solidFill>
          <a:ln w="12700">
            <a:solidFill>
              <a:srgbClr val="3B437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66260" y="260604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</p:sp>
      <p:sp>
        <p:nvSpPr>
          <p:cNvPr id="13" name="Text 11"/>
          <p:cNvSpPr/>
          <p:nvPr/>
        </p:nvSpPr>
        <p:spPr>
          <a:xfrm>
            <a:off x="4366260" y="2606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611880" y="35204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0" y="402336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6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transaction takes the database from one valid state to another, preserving all rules.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2331720"/>
            <a:ext cx="2606040" cy="3657600"/>
          </a:xfrm>
          <a:prstGeom prst="roundRect">
            <a:avLst>
              <a:gd name="adj" fmla="val 3509"/>
            </a:avLst>
          </a:prstGeom>
          <a:solidFill>
            <a:srgbClr val="232C63"/>
          </a:solidFill>
          <a:ln w="12700">
            <a:solidFill>
              <a:srgbClr val="3B437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46620" y="260604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</p:sp>
      <p:sp>
        <p:nvSpPr>
          <p:cNvPr id="18" name="Text 16"/>
          <p:cNvSpPr/>
          <p:nvPr/>
        </p:nvSpPr>
        <p:spPr>
          <a:xfrm>
            <a:off x="7246620" y="2606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492240" y="35204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37960" y="402336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6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transactions don't see each other's intermediate, uncommitted changes.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189720" y="2331720"/>
            <a:ext cx="2606040" cy="3657600"/>
          </a:xfrm>
          <a:prstGeom prst="roundRect">
            <a:avLst>
              <a:gd name="adj" fmla="val 3509"/>
            </a:avLst>
          </a:prstGeom>
          <a:solidFill>
            <a:srgbClr val="232C63"/>
          </a:solidFill>
          <a:ln w="12700">
            <a:solidFill>
              <a:srgbClr val="3B437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26980" y="260604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</p:sp>
      <p:sp>
        <p:nvSpPr>
          <p:cNvPr id="23" name="Text 21"/>
          <p:cNvSpPr/>
          <p:nvPr/>
        </p:nvSpPr>
        <p:spPr>
          <a:xfrm>
            <a:off x="10126980" y="2606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9372600" y="35204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418320" y="402336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6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committed, a transaction's changes survive any subsequent failure.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 |  Transaction Management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F2D9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ACID in a Fund Transfer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3619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T: transfer ₹500 from Account A to Account B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1109960" cy="932688"/>
          </a:xfrm>
          <a:prstGeom prst="roundRect">
            <a:avLst>
              <a:gd name="adj" fmla="val 6863"/>
            </a:avLst>
          </a:prstGeom>
          <a:solidFill>
            <a:srgbClr val="F7F6F2"/>
          </a:solidFill>
          <a:ln w="12700">
            <a:solidFill>
              <a:srgbClr val="E4E2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340864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34086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Atomicity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834640" y="219456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system crashes after debiting A but before crediting B, the whole transaction is rolled back — A's debit is undone too.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145536"/>
            <a:ext cx="111099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4E2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3832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383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834640" y="3236976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“total balance across A and B stays constant” holds both before and after the transaction commits.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87952"/>
            <a:ext cx="11109960" cy="932688"/>
          </a:xfrm>
          <a:prstGeom prst="roundRect">
            <a:avLst>
              <a:gd name="adj" fmla="val 6863"/>
            </a:avLst>
          </a:prstGeom>
          <a:solidFill>
            <a:srgbClr val="F7F6F2"/>
          </a:solidFill>
          <a:ln w="12700">
            <a:solidFill>
              <a:srgbClr val="E4E2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425696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42569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834640" y="4279392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transaction reading A and B mid-transfer never sees a state where A is debited but B isn't yet credited.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230368"/>
            <a:ext cx="111099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4E2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5468112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46811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834640" y="5321808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transfer commits, the new balances survive even if the server crashes one second later.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 |  Transaction Management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F2D9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CONTROL IS NEEDED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Problems With Uncontrolled Concurrency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transactions interleave freely, isolation breaks down in predictable ways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2DA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225856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8A1F2B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2585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61872" y="2221992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Update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807208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transactions read the same value, then both write back an update — one overwrites the other's change without ever seeing it.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205740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2DA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19088" y="225856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8A1F2B"/>
          </a:solidFill>
          <a:ln/>
        </p:spPr>
      </p:sp>
      <p:sp>
        <p:nvSpPr>
          <p:cNvPr id="13" name="Text 11"/>
          <p:cNvSpPr/>
          <p:nvPr/>
        </p:nvSpPr>
        <p:spPr>
          <a:xfrm>
            <a:off x="6419088" y="22585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931152" y="2221992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Read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2807208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transaction reads a value written by another transaction that hasn't committed yet — and later gets rolled back.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2DA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" y="413308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8A1F2B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133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61872" y="4096512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Unrepeatable Read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4681728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transaction reads the same row twice and gets different values, because another transaction updated and committed in between.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393192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2DA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19088" y="413308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8A1F2B"/>
          </a:solidFill>
          <a:ln/>
        </p:spPr>
      </p:sp>
      <p:sp>
        <p:nvSpPr>
          <p:cNvPr id="23" name="Text 21"/>
          <p:cNvSpPr/>
          <p:nvPr/>
        </p:nvSpPr>
        <p:spPr>
          <a:xfrm>
            <a:off x="6419088" y="4133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31152" y="4096512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 Read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92240" y="4681728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transaction re-runs a query and finds new rows that satisfy the condition, inserted by another transaction in between.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 |  Transaction Management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F2D9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LOCK-BASED PROTOCOLS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and Exclusive Locks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Lock-based concurrency control makes a transaction acquire a lock on a data item before accessing 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120640" cy="3566160"/>
          </a:xfrm>
          <a:prstGeom prst="roundRect">
            <a:avLst>
              <a:gd name="adj" fmla="val 2564"/>
            </a:avLst>
          </a:prstGeom>
          <a:solidFill>
            <a:srgbClr val="F7F6F2"/>
          </a:solidFill>
          <a:ln w="12700">
            <a:solidFill>
              <a:srgbClr val="E4E2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46888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468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0020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Lock (S)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600200" y="28072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“Read Lock”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14400" y="3337560"/>
            <a:ext cx="4389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 to read a data item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transactions may hold a shared lock on the same item at once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allow any transaction to write the item while held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26480" y="2148840"/>
            <a:ext cx="5120640" cy="3566160"/>
          </a:xfrm>
          <a:prstGeom prst="roundRect">
            <a:avLst>
              <a:gd name="adj" fmla="val 2564"/>
            </a:avLst>
          </a:prstGeom>
          <a:solidFill>
            <a:srgbClr val="F7F6F2"/>
          </a:solidFill>
          <a:ln w="12700">
            <a:solidFill>
              <a:srgbClr val="E4E2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246888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2468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17804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Lock (X)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178040" y="28072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“Write Lock”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92240" y="3337560"/>
            <a:ext cx="4389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 to read and write a data item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transaction may hold it — all other lock requests must wait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both reads and writes by any other transaction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852160"/>
            <a:ext cx="11109960" cy="566928"/>
          </a:xfrm>
          <a:prstGeom prst="roundRect">
            <a:avLst>
              <a:gd name="adj" fmla="val 11290"/>
            </a:avLst>
          </a:prstGeom>
          <a:solidFill>
            <a:srgbClr val="FBF3DD"/>
          </a:solidFill>
          <a:ln w="12700">
            <a:solidFill>
              <a:srgbClr val="F2D9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852160"/>
            <a:ext cx="11109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Compatibility:  S+S → allowed   •   S+X → blocked   •   X+X → blocked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 |  Transaction Management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F2D9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LOCK-BASED PROTOCOLS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Two-Phase Locking (2PL)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109960" cy="594360"/>
          </a:xfrm>
          <a:prstGeom prst="roundRect">
            <a:avLst>
              <a:gd name="adj" fmla="val 12308"/>
            </a:avLst>
          </a:prstGeom>
          <a:solidFill>
            <a:srgbClr val="FBF3DD"/>
          </a:solidFill>
          <a:ln w="12700">
            <a:solidFill>
              <a:srgbClr val="F2D9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002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a transaction acquires all the locks it needs before releasing any — once it releases one lock, it may never acquire another.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097280" y="5029200"/>
            <a:ext cx="9966960" cy="0"/>
          </a:xfrm>
          <a:prstGeom prst="line">
            <a:avLst/>
          </a:prstGeom>
          <a:noFill/>
          <a:ln w="15875">
            <a:solidFill>
              <a:srgbClr val="5B62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2651760"/>
            <a:ext cx="0" cy="2377440"/>
          </a:xfrm>
          <a:prstGeom prst="line">
            <a:avLst/>
          </a:prstGeom>
          <a:noFill/>
          <a:ln w="15875">
            <a:solidFill>
              <a:srgbClr val="5B62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4937760"/>
            <a:ext cx="4393692" cy="-1920240"/>
          </a:xfrm>
          <a:prstGeom prst="line">
            <a:avLst/>
          </a:prstGeom>
          <a:noFill/>
          <a:ln w="38100">
            <a:solidFill>
              <a:srgbClr val="1E6B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82412" y="3017520"/>
            <a:ext cx="5207508" cy="1554480"/>
          </a:xfrm>
          <a:prstGeom prst="line">
            <a:avLst/>
          </a:prstGeom>
          <a:noFill/>
          <a:ln w="38100">
            <a:solidFill>
              <a:srgbClr val="8A1F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00116" y="2935224"/>
            <a:ext cx="164592" cy="164592"/>
          </a:xfrm>
          <a:prstGeom prst="ellipse">
            <a:avLst/>
          </a:prstGeom>
          <a:solidFill>
            <a:srgbClr val="D4A017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2788920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1E6B3A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2788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PHASE — acquire locks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863840" y="2788920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8A1F2B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0" y="2788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SHRINKING PHASE — release locks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33772" y="26974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Point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 rot="16200000">
            <a:off x="45720" y="3200400"/>
            <a:ext cx="1005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locks held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241280" y="51023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→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5349240"/>
            <a:ext cx="11109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2PL guarantees every schedule it produces is conflict-serializable — but on its own, it does not prevent deadlock.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 |  Transaction Management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F2D9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LOCK-BASED PROTOCOLS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Variants of Two-Phase Locking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2PL still allows cascading rollbacks — these stricter variants trade some concurrency for safety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110996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1031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971800" y="210312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Rule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26680" y="210312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560320"/>
            <a:ext cx="11109960" cy="914400"/>
          </a:xfrm>
          <a:prstGeom prst="rect">
            <a:avLst/>
          </a:prstGeom>
          <a:solidFill>
            <a:srgbClr val="F7F6F2"/>
          </a:solidFill>
          <a:ln w="9525">
            <a:solidFill>
              <a:srgbClr val="E4E2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633472"/>
            <a:ext cx="19202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2PL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971800" y="2633472"/>
            <a:ext cx="43891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Locks may be released as soon as the shrinking phase begins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26680" y="2633472"/>
            <a:ext cx="38404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Non-serializable schedules only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111099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547872"/>
            <a:ext cx="19202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2PL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971800" y="3547872"/>
            <a:ext cx="43891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locks held until the transaction commits or aborts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26680" y="3547872"/>
            <a:ext cx="38404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rollbacks from dirty reads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389120"/>
            <a:ext cx="11109960" cy="914400"/>
          </a:xfrm>
          <a:prstGeom prst="rect">
            <a:avLst/>
          </a:prstGeom>
          <a:solidFill>
            <a:srgbClr val="F7F6F2"/>
          </a:solidFill>
          <a:ln w="9525">
            <a:solidFill>
              <a:srgbClr val="E4E2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462272"/>
            <a:ext cx="19202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2PL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971800" y="4462272"/>
            <a:ext cx="43891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locks (shared and exclusive) held until commit or abort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26680" y="4462272"/>
            <a:ext cx="38404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rollbacks; simplest to reason about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 |  Transaction Management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2B337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2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LOCKING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Deadlock and Starvation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94960" cy="3931920"/>
          </a:xfrm>
          <a:prstGeom prst="roundRect">
            <a:avLst>
              <a:gd name="adj" fmla="val 2326"/>
            </a:avLst>
          </a:prstGeom>
          <a:solidFill>
            <a:srgbClr val="232C63"/>
          </a:solidFill>
          <a:ln w="12700">
            <a:solidFill>
              <a:srgbClr val="3B43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659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6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holds a lock on X and waits for a lock on Y, while T2 holds a lock on Y and waits for a lock on X — both wait forever.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4846320" cy="914400"/>
          </a:xfrm>
          <a:prstGeom prst="roundRect">
            <a:avLst>
              <a:gd name="adj" fmla="val 6000"/>
            </a:avLst>
          </a:prstGeom>
          <a:solidFill>
            <a:srgbClr val="141A47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52044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4A0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T1: lock(X) → wait for lock(Y)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4A0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T2: lock(Y) → wait for lock(X)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45720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C9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by: deadlock detection (wait-for graphs) or deadlock prevention (e.g. wait-die, wound-wait schemes).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1737360"/>
            <a:ext cx="5394960" cy="3931920"/>
          </a:xfrm>
          <a:prstGeom prst="roundRect">
            <a:avLst>
              <a:gd name="adj" fmla="val 2326"/>
            </a:avLst>
          </a:prstGeom>
          <a:solidFill>
            <a:srgbClr val="232C63"/>
          </a:solidFill>
          <a:ln w="12700">
            <a:solidFill>
              <a:srgbClr val="3B43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9659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Starvation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37960" y="242316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6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transaction repeatedly loses out to other transactions for the same lock and waits indefinitely, even though no deadlock exists.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37960" y="3520440"/>
            <a:ext cx="4846320" cy="914400"/>
          </a:xfrm>
          <a:prstGeom prst="roundRect">
            <a:avLst>
              <a:gd name="adj" fmla="val 6000"/>
            </a:avLst>
          </a:prstGeom>
          <a:solidFill>
            <a:srgbClr val="141A47"/>
          </a:solidFill>
          <a:ln/>
        </p:spPr>
      </p:sp>
      <p:sp>
        <p:nvSpPr>
          <p:cNvPr id="15" name="Text 13"/>
          <p:cNvSpPr/>
          <p:nvPr/>
        </p:nvSpPr>
        <p:spPr>
          <a:xfrm>
            <a:off x="6720840" y="352044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6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caused by a lock manager that always grants the newest request priority over an older, waiting one.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37960" y="45720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C9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by: first-come-first-served lock queuing, or aging — raising a waiting request's priority over time.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 |  Transaction Management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F2D9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109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2DA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11680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D4A017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1901952"/>
            <a:ext cx="9966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transaction is all-or-nothing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08760" y="224028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moves through active, partially committed, and committed states — or fails and is aborted, undoing any partial work.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907792"/>
            <a:ext cx="11109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2DA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3136392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D4A017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136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08760" y="3026664"/>
            <a:ext cx="9966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defines correctness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08760" y="3364992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Atomicity, Consistency, Isolation, and Durability together are what let a DBMS promise reliable execution.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032504"/>
            <a:ext cx="11109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2DA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4261104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D4A017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2611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08760" y="4151376"/>
            <a:ext cx="9966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Unchecked concurrency causes real bugs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08760" y="4489704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updates, dirty reads, unrepeatable reads, and phantoms all stem from transactions interleaving without control.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157216"/>
            <a:ext cx="11109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2DA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5385816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D4A017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3858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508760" y="5276088"/>
            <a:ext cx="9966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2PL trades some concurrency for safety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508760" y="5614416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Shared/exclusive locks plus a growing-then-shrinking discipline guarantee serializability, at the cost of possible deadlock.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 |  Transaction Management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4206240" cy="4206240"/>
          </a:xfrm>
          <a:prstGeom prst="ellipse">
            <a:avLst/>
          </a:prstGeom>
          <a:solidFill>
            <a:srgbClr val="232C6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65176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777240" y="3703320"/>
            <a:ext cx="2011680" cy="0"/>
          </a:xfrm>
          <a:prstGeom prst="line">
            <a:avLst/>
          </a:prstGeom>
          <a:noFill/>
          <a:ln w="3175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931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B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  |  Transaction Management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6126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Kiran Mayee Adavala  •  School of Technology, Woxsen University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