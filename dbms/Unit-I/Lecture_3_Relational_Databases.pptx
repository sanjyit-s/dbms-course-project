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-120" y="-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CCD3A-D5CC-42FE-A88C-10321C9DA8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C5B87-4205-4119-AD82-88B667FF7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962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12187707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4231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4008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8B1E2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640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b="1" dirty="0" smtClean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Minutes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and Structure of the Relational Model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Introduction to Database Systems and Data Models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of 9  •  Slide 1 of 8</a:t>
            </a:r>
            <a:endParaRPr lang="en-US" sz="950" dirty="0"/>
          </a:p>
        </p:txBody>
      </p:sp>
      <p:sp>
        <p:nvSpPr>
          <p:cNvPr id="13" name="TextBox 12"/>
          <p:cNvSpPr txBox="1"/>
          <p:nvPr/>
        </p:nvSpPr>
        <p:spPr>
          <a:xfrm>
            <a:off x="9883589" y="188259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1120AC0-67F3-450F-A86C-E6B0CEA066C8}" type="datetime8">
              <a:rPr lang="en-US" sz="1400" smtClean="0">
                <a:latin typeface="Agency FB" pitchFamily="34" charset="0"/>
              </a:rPr>
              <a:t>7/16/2026 10:09 AM</a:t>
            </a:fld>
            <a:endParaRPr lang="en-IN" sz="1400" dirty="0">
              <a:latin typeface="Agency FB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</a:t>
            </a:r>
            <a:r>
              <a:rPr lang="en-US" sz="2600" b="1" dirty="0" err="1" smtClean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TextBooks</a:t>
            </a:r>
            <a:r>
              <a:rPr lang="en-US" sz="2600" b="1" dirty="0" smtClean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endParaRPr lang="en-US" sz="2600" dirty="0"/>
          </a:p>
        </p:txBody>
      </p:sp>
      <p:sp>
        <p:nvSpPr>
          <p:cNvPr id="3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IN" sz="1600" dirty="0"/>
              <a:t>“Database System Concepts”, 6th Edition by Abraham </a:t>
            </a:r>
            <a:r>
              <a:rPr lang="en-IN" sz="1600" dirty="0" err="1"/>
              <a:t>Silberschatz</a:t>
            </a:r>
            <a:r>
              <a:rPr lang="en-IN" sz="1600" dirty="0"/>
              <a:t>, Henry F. </a:t>
            </a:r>
            <a:r>
              <a:rPr lang="en-IN" sz="1600" dirty="0" err="1"/>
              <a:t>Korth</a:t>
            </a:r>
            <a:r>
              <a:rPr lang="en-IN" sz="1600" dirty="0"/>
              <a:t>, S. </a:t>
            </a:r>
            <a:r>
              <a:rPr lang="en-IN" sz="1600" dirty="0" err="1"/>
              <a:t>Sudarshan</a:t>
            </a:r>
            <a:r>
              <a:rPr lang="en-IN" sz="1600" dirty="0"/>
              <a:t>, McGraw-Hill.</a:t>
            </a:r>
            <a:endParaRPr lang="en-US" sz="1600" dirty="0"/>
          </a:p>
        </p:txBody>
      </p:sp>
      <p:sp>
        <p:nvSpPr>
          <p:cNvPr id="7" name="Text 8"/>
          <p:cNvSpPr/>
          <p:nvPr/>
        </p:nvSpPr>
        <p:spPr>
          <a:xfrm>
            <a:off x="1298448" y="301897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IN" sz="1600" dirty="0"/>
              <a:t>“Principles of Database and Knowledge – Base Systems”, </a:t>
            </a:r>
            <a:r>
              <a:rPr lang="en-IN" sz="1600" dirty="0" err="1"/>
              <a:t>Vol</a:t>
            </a:r>
            <a:r>
              <a:rPr lang="en-IN" sz="1600" dirty="0"/>
              <a:t> 1 by J. D. Ullman, Computer Science Press.</a:t>
            </a:r>
            <a:endParaRPr lang="en-US" sz="1600" dirty="0"/>
          </a:p>
        </p:txBody>
      </p:sp>
      <p:sp>
        <p:nvSpPr>
          <p:cNvPr id="8" name="Text 8"/>
          <p:cNvSpPr/>
          <p:nvPr/>
        </p:nvSpPr>
        <p:spPr>
          <a:xfrm>
            <a:off x="1298448" y="411079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IN" sz="1600" dirty="0"/>
              <a:t>“Fundamentals of Database Systems”, 5th Edition by R. </a:t>
            </a:r>
            <a:r>
              <a:rPr lang="en-IN" sz="1600" dirty="0" err="1"/>
              <a:t>Elmasri</a:t>
            </a:r>
            <a:r>
              <a:rPr lang="en-IN" sz="1600" dirty="0"/>
              <a:t> and S. </a:t>
            </a:r>
            <a:r>
              <a:rPr lang="en-IN" sz="1600" dirty="0" err="1"/>
              <a:t>Navathe</a:t>
            </a:r>
            <a:r>
              <a:rPr lang="en-IN" sz="1600" dirty="0"/>
              <a:t>, Pearson Education.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  <p:txBody>
          <a:bodyPr/>
          <a:lstStyle/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1</a:t>
            </a:r>
            <a:endParaRPr lang="en-IN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0" name="Shape 6"/>
          <p:cNvSpPr/>
          <p:nvPr/>
        </p:nvSpPr>
        <p:spPr>
          <a:xfrm>
            <a:off x="631891" y="30646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  <p:txBody>
          <a:bodyPr/>
          <a:lstStyle/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2</a:t>
            </a:r>
            <a:endParaRPr lang="en-IN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Shape 6"/>
          <p:cNvSpPr/>
          <p:nvPr/>
        </p:nvSpPr>
        <p:spPr>
          <a:xfrm>
            <a:off x="640080" y="41565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  <p:txBody>
          <a:bodyPr/>
          <a:lstStyle/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3</a:t>
            </a:r>
            <a:endParaRPr lang="en-IN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99" y="64030"/>
            <a:ext cx="493104" cy="24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3451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of 9  •  Slide 2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relational database and its key terminology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structural components of a relation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key properties that every relation must satisfy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advantages of the relational model</a:t>
            </a:r>
            <a:endParaRPr lang="en-US" sz="1600" dirty="0"/>
          </a:p>
        </p:txBody>
      </p:sp>
      <p:sp>
        <p:nvSpPr>
          <p:cNvPr id="20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9883589" y="188259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1120AC0-67F3-450F-A86C-E6B0CEA066C8}" type="datetime8">
              <a:rPr lang="en-US" sz="1400" smtClean="0">
                <a:latin typeface="Agency FB" pitchFamily="34" charset="0"/>
              </a:rPr>
              <a:t>7/16/2026 10:09 AM</a:t>
            </a:fld>
            <a:endParaRPr lang="en-IN" sz="1400" dirty="0">
              <a:latin typeface="Agency FB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of 9  •  Slide 3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Relational Database?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data as tables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that organizes data into one or more tables (relations)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F. Codd in 1970, based on the mathematical concept of relations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data can be represented as rows and columns in a table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popular: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structure, strong theoretical foundation, and powerful query languages (SQL)</a:t>
            </a:r>
            <a:endParaRPr lang="en-US" sz="1600" dirty="0"/>
          </a:p>
        </p:txBody>
      </p:sp>
      <p:sp>
        <p:nvSpPr>
          <p:cNvPr id="19" name="TextBox 18"/>
          <p:cNvSpPr txBox="1"/>
          <p:nvPr/>
        </p:nvSpPr>
        <p:spPr>
          <a:xfrm>
            <a:off x="9883589" y="188259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1120AC0-67F3-450F-A86C-E6B0CEA066C8}" type="datetime8">
              <a:rPr lang="en-US" sz="1400" smtClean="0">
                <a:latin typeface="Agency FB" pitchFamily="34" charset="0"/>
              </a:rPr>
              <a:t>7/16/2026 10:15 AM</a:t>
            </a:fld>
            <a:endParaRPr lang="en-IN" sz="1400" dirty="0">
              <a:latin typeface="Agency FB" pitchFamily="34" charset="0"/>
            </a:endParaRPr>
          </a:p>
        </p:txBody>
      </p:sp>
      <p:sp>
        <p:nvSpPr>
          <p:cNvPr id="18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of 9  •  Slide 4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Structure: Relations, Tuples, Attributes, Domains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a relational table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consisting of rows and columns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4320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row in a relation, representing one record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666744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column in a relation, representing one property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718304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590288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allowable values for a given attribute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641848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513832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&amp; Cardinality: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= number of attributes; Cardinality = number of tuples</a:t>
            </a:r>
            <a:endParaRPr lang="en-US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9883589" y="188259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1120AC0-67F3-450F-A86C-E6B0CEA066C8}" type="datetime8">
              <a:rPr lang="en-US" sz="1400" smtClean="0">
                <a:latin typeface="Agency FB" pitchFamily="34" charset="0"/>
              </a:rPr>
              <a:t>7/16/2026 10:15 AM</a:t>
            </a:fld>
            <a:endParaRPr lang="en-IN" sz="1400" dirty="0">
              <a:latin typeface="Agency FB" pitchFamily="34" charset="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of 9  •  Slide 5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Relation: STUDENT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tuples, Columns = attributes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636318"/>
              </p:ext>
            </p:extLst>
          </p:nvPr>
        </p:nvGraphicFramePr>
        <p:xfrm>
          <a:off x="640080" y="1874520"/>
          <a:ext cx="10881360" cy="3429000"/>
        </p:xfrm>
        <a:graphic>
          <a:graphicData uri="http://schemas.openxmlformats.org/drawingml/2006/table">
            <a:tbl>
              <a:tblPr/>
              <a:tblGrid>
                <a:gridCol w="2651760"/>
                <a:gridCol w="3017520"/>
                <a:gridCol w="2743200"/>
                <a:gridCol w="2468880"/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 (PK)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Aditi Rao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 (AI &amp; ML)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 (Data Science)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 Iyer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 (AI &amp; ML)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Kabir Nair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Technology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883589" y="188259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1120AC0-67F3-450F-A86C-E6B0CEA066C8}" type="datetime8">
              <a:rPr lang="en-US" sz="1400" smtClean="0">
                <a:latin typeface="Agency FB" pitchFamily="34" charset="0"/>
              </a:rPr>
              <a:t>7/16/2026 10:15 AM</a:t>
            </a:fld>
            <a:endParaRPr lang="en-IN" sz="1400" dirty="0">
              <a:latin typeface="Agency FB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of 9  •  Slide 6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 of Relations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table a valid relation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tuples: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rows in a relation are exactly identical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tuples: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rows carries no meaning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attributes: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columns carries no meaning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attribute holds a single, indivisible value per tuple</a:t>
            </a:r>
            <a:endParaRPr lang="en-US" sz="1600" dirty="0"/>
          </a:p>
        </p:txBody>
      </p:sp>
      <p:sp>
        <p:nvSpPr>
          <p:cNvPr id="19" name="TextBox 18"/>
          <p:cNvSpPr txBox="1"/>
          <p:nvPr/>
        </p:nvSpPr>
        <p:spPr>
          <a:xfrm>
            <a:off x="9883589" y="188259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1120AC0-67F3-450F-A86C-E6B0CEA066C8}" type="datetime8">
              <a:rPr lang="en-US" sz="1400" smtClean="0">
                <a:latin typeface="Agency FB" pitchFamily="34" charset="0"/>
              </a:rPr>
              <a:t>7/16/2026 10:15 AM</a:t>
            </a:fld>
            <a:endParaRPr lang="en-IN" sz="1400" dirty="0">
              <a:latin typeface="Agency FB" pitchFamily="34" charset="0"/>
            </a:endParaRPr>
          </a:p>
        </p:txBody>
      </p:sp>
      <p:sp>
        <p:nvSpPr>
          <p:cNvPr id="18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of 9  •  Slide 7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the Relational Model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remains the industry standard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Simplicity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table structure that is easy to understand and design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0780" y="1874520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19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419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19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theoretical basis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1948" y="2880360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set theory and predicate logic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721608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4398264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querying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" y="4727448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allows powerful, declarative data retrieval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40780" y="3721608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19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419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1948" y="4398264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41948" y="4727448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constraints enforce accuracy and consistency</a:t>
            </a:r>
            <a:endParaRPr 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9883589" y="188259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1120AC0-67F3-450F-A86C-E6B0CEA066C8}" type="datetime8">
              <a:rPr lang="en-US" sz="1400" smtClean="0">
                <a:latin typeface="Agency FB" pitchFamily="34" charset="0"/>
              </a:rPr>
              <a:t>7/16/2026 10:16 AM</a:t>
            </a:fld>
            <a:endParaRPr lang="en-IN" sz="1400" dirty="0">
              <a:latin typeface="Agency FB" pitchFamily="34" charset="0"/>
            </a:endParaRPr>
          </a:p>
        </p:txBody>
      </p:sp>
      <p:sp>
        <p:nvSpPr>
          <p:cNvPr id="30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of 9  •  Slide 8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stores data in tables called relations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terms: relation, tuple, attribute, domain, degree, cardinality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must have unique tuples and atomic attribute values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 remains popular for its simplicity and strong SQL support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is the difference between the degree and cardinality of a relation?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Define 'domain' with an example.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Name one property every valid relation must satisfy.</a:t>
            </a:r>
            <a:endParaRPr 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9883589" y="188259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B0939B-F874-4217-AA9E-06348D32410B}" type="datetime8">
              <a:rPr lang="en-US" smtClean="0"/>
              <a:t>7/16/2026 10:16 AM</a:t>
            </a:fld>
            <a:endParaRPr lang="en-IN" dirty="0"/>
          </a:p>
        </p:txBody>
      </p:sp>
      <p:sp>
        <p:nvSpPr>
          <p:cNvPr id="25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779</Words>
  <Application>Microsoft Office PowerPoint</Application>
  <PresentationFormat>Custom</PresentationFormat>
  <Paragraphs>127</Paragraphs>
  <Slides>10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Kiran Mayee</cp:lastModifiedBy>
  <cp:revision>10</cp:revision>
  <dcterms:created xsi:type="dcterms:W3CDTF">2026-07-13T23:34:28Z</dcterms:created>
  <dcterms:modified xsi:type="dcterms:W3CDTF">2026-07-16T04:57:12Z</dcterms:modified>
</cp:coreProperties>
</file>