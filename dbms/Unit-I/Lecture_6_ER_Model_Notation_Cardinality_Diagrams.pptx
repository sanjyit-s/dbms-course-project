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-96" y="-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13793" units="1/cm"/>
        </inkml:channelProperties>
      </inkml:inkSource>
      <inkml:timestamp xml:id="ts0" timeString="2026-07-21T10:41:58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11162 5829,'0'50,"25"-25,-25-1,0 1,25 0,0 25,-25-26,24 1,-24 25,25-25,-25-1,0 26,25-50,-25 25,25 0,0-25,-1 0,-24-50,25 25,0 0,0-24,0-1,-1 1,-24 24,50-25,-50 25,0 1,50-26,-50 0,24 25,1 1,-25-1,25-25,0 25,-25 1,25-1,-1-25,1 25,0 1,0-1,-25-25,25 25,-1 1,1-1,-25 0,25 0,0 0,-25 1,25 24,-25-25,24 0,-24 0,25 25,-25-25,25 1,0-1,-25 0,25 25,-25-25,24 0,-24 1,25 24,-25-25,25 0,0 25,-25-25,25 25,0-25,-25 1,24 24,-24-25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75F4E-BCE6-42D2-8C44-6B31BB4CD7D8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928E7-4D3F-41EB-86C9-D7815C844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1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Model — Notation, Cardinality &amp; Diagrams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concepts to a complete ER Diagram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1 of 8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Chen and Crow's Foot ER notations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cardinality and participation constraints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cardinalities: 1:1, 1:N, and M:N relationships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 worked ER diagram example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Notations: Chen vs. Crow's Foot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common ways to draw ER diagrams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Chen Notation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Crow's Foot Notation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as rectangles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as diamonds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as ovals connected by lines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Cardinalities labeled as 1, M, N near lines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as rectangles (with attribute list inside)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as plain connecting lines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shown using line-end symbols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4279392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4151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modern database design tools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9" name="Ink 28"/>
              <p14:cNvContentPartPr/>
              <p14:nvPr/>
            </p14:nvContentPartPr>
            <p14:xfrm>
              <a:off x="4018320" y="1750320"/>
              <a:ext cx="402120" cy="509400"/>
            </p14:xfrm>
          </p:contentPart>
        </mc:Choice>
        <mc:Fallback xmlns="">
          <p:pic>
            <p:nvPicPr>
              <p:cNvPr id="29" name="Ink 2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08960" y="1740960"/>
                <a:ext cx="420840" cy="528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Cardinality &amp; Participation Constraints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governing how entities relate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ratio: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number of entities to which another entity can be associated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instance must participate in the relationship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participation: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entity instances may not participate in the relationship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and participation directly shape the resulting table structure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Cardinalities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fundamental relationship types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of set A relates to exactly one entity of set B (e.g., Person – Passport)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738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50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50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50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50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entity of set A relates to many entities of set B (e.g., Department – Employees)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7680" y="1874520"/>
            <a:ext cx="3413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9E5E0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08848" y="2057400"/>
            <a:ext cx="402336" cy="402336"/>
          </a:xfrm>
          <a:prstGeom prst="ellipse">
            <a:avLst/>
          </a:prstGeom>
          <a:solidFill>
            <a:srgbClr val="8B1E24"/>
          </a:solidFill>
          <a:ln/>
        </p:spPr>
      </p:sp>
      <p:sp>
        <p:nvSpPr>
          <p:cNvPr id="20" name="Text 18"/>
          <p:cNvSpPr/>
          <p:nvPr/>
        </p:nvSpPr>
        <p:spPr>
          <a:xfrm>
            <a:off x="830884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08848" y="2551176"/>
            <a:ext cx="3011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: 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08848" y="2880360"/>
            <a:ext cx="3011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entities of A relate to many entities of B (e.g., Students – Courses)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University ER Diagram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ENROLLS, and COURSE with cardinalities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2103120" cy="868680"/>
          </a:xfrm>
          <a:prstGeom prst="rect">
            <a:avLst/>
          </a:prstGeom>
          <a:solidFill>
            <a:srgbClr val="8B1E24"/>
          </a:solidFill>
          <a:ln w="19050">
            <a:solidFill>
              <a:srgbClr val="5C14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0" y="2834640"/>
            <a:ext cx="2103120" cy="868680"/>
          </a:xfrm>
          <a:prstGeom prst="rect">
            <a:avLst/>
          </a:prstGeom>
          <a:solidFill>
            <a:srgbClr val="8B1E24"/>
          </a:solidFill>
          <a:ln w="19050">
            <a:solidFill>
              <a:srgbClr val="5C14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834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2697480"/>
            <a:ext cx="2011680" cy="1143000"/>
          </a:xfrm>
          <a:prstGeom prst="diamond">
            <a:avLst/>
          </a:prstGeom>
          <a:solidFill>
            <a:srgbClr val="C89B3C"/>
          </a:solidFill>
          <a:ln w="19050">
            <a:solidFill>
              <a:srgbClr val="5C14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6974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264408"/>
            <a:ext cx="2148840" cy="0"/>
          </a:xfrm>
          <a:prstGeom prst="line">
            <a:avLst/>
          </a:prstGeom>
          <a:noFill/>
          <a:ln w="19050">
            <a:solidFill>
              <a:srgbClr val="231F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0" y="3264408"/>
            <a:ext cx="2057400" cy="0"/>
          </a:xfrm>
          <a:prstGeom prst="line">
            <a:avLst/>
          </a:prstGeom>
          <a:noFill/>
          <a:ln w="19050">
            <a:solidFill>
              <a:srgbClr val="231F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880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880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2880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2880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 One STUDENT can ENROLL in many COURSEs, and one COURSE can have many STUDENTs enrolled — a Many-to-Many (M:N) relationship.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1206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3EEE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also carries its own attribute, Grade — an attribute of the relationship itself, not of either entity. If COURSE could not exist without STUDENT, it would be modeled as a weak entity with a partial (dashed) key.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Entities and Keys in ER Diagrams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dependent entities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 notation: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with a double-outlined rectangle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with a double-outlined diamond, connecting the weak entity to its owner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key: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with a dashed line — unique only within the owner entity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Dependent entity that only makes sense in the context of an Employee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 — Notation, Cardinality &amp; Diagrams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and Crow's Foot are two common ER notations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ratios describe how entities relate: 1:1, 1:N, or M:N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constraints indicate whether all instances must take part in a relationship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entities depend on an identifying relationship with a strong (owner) entity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a M:N cardinality mean between STUDENT and COURSE?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Explain total vs. partial participation with an example.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How is a weak entity represented differently from a strong entity?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635</Words>
  <Application>Microsoft Office PowerPoint</Application>
  <PresentationFormat>Custom</PresentationFormat>
  <Paragraphs>95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Kiran Mayee</cp:lastModifiedBy>
  <cp:revision>4</cp:revision>
  <dcterms:created xsi:type="dcterms:W3CDTF">2026-07-13T23:34:29Z</dcterms:created>
  <dcterms:modified xsi:type="dcterms:W3CDTF">2026-07-22T05:18:57Z</dcterms:modified>
</cp:coreProperties>
</file>