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-678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937594-BD8A-47C9-9D8C-6F8644C77D7A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2F4A5B-0B87-432C-86E4-61A152A4ED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3601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5C1418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5C1418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-1828800"/>
            <a:ext cx="5486400" cy="5486400"/>
          </a:xfrm>
          <a:prstGeom prst="ellipse">
            <a:avLst/>
          </a:prstGeom>
          <a:solidFill>
            <a:srgbClr val="8B1E24">
              <a:alpha val="8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2103120" y="4389120"/>
            <a:ext cx="3840480" cy="3840480"/>
          </a:xfrm>
          <a:prstGeom prst="ellipse">
            <a:avLst/>
          </a:prstGeom>
          <a:solidFill>
            <a:srgbClr val="5C1418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640080"/>
            <a:ext cx="1737360" cy="502920"/>
          </a:xfrm>
          <a:prstGeom prst="roundRect">
            <a:avLst>
              <a:gd name="adj" fmla="val 50909"/>
            </a:avLst>
          </a:prstGeom>
          <a:solidFill>
            <a:srgbClr val="8B1E2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640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14600" y="6400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Hour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Model — Entities, Attributes, Relationships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40080" y="35204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6C9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blocks of the Entity-Relationship Model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6217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— Introduction to Database Systems and Data Models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348472" y="6473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5 of 9  •  Slide 1 of 8</a:t>
            </a:r>
            <a:endParaRPr lang="en-US" sz="950" dirty="0"/>
          </a:p>
        </p:txBody>
      </p:sp>
      <p:sp>
        <p:nvSpPr>
          <p:cNvPr id="14" name="TextBox 13"/>
          <p:cNvSpPr txBox="1"/>
          <p:nvPr/>
        </p:nvSpPr>
        <p:spPr>
          <a:xfrm>
            <a:off x="9623506" y="891540"/>
            <a:ext cx="2149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7/21/2026 10:50 AM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348472" y="6473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5 of 9  •  Slide 2 of 8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5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session, students will be able to: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965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1E2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98448" y="1938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ER Model and its role in database design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27157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1E24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98448" y="2688336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entities from entity sets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346557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1E24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98448" y="3438144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different types of attributes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421538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1E24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98448" y="4187952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relationships and relationship sets</a:t>
            </a:r>
            <a:endParaRPr lang="en-US" sz="1500" dirty="0"/>
          </a:p>
        </p:txBody>
      </p:sp>
      <p:sp>
        <p:nvSpPr>
          <p:cNvPr id="20" name="TextBox 19"/>
          <p:cNvSpPr txBox="1"/>
          <p:nvPr/>
        </p:nvSpPr>
        <p:spPr>
          <a:xfrm>
            <a:off x="9291918" y="325612"/>
            <a:ext cx="2149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7/21/2026 10:51 AM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348472" y="6473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5 of 9  •  Slide 3 of 8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5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ER Model?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conceptual blueprint for database design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94767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81965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high-level conceptual data model that describes data as entities, attributes, and relationships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10210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97408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designers visualize and communicate the structure before implementation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425653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12851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by: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Chen in 1976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541096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528294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ER Diagram (ERD) — a graphical representation of the conceptual design</a:t>
            </a:r>
            <a:endParaRPr lang="en-US" sz="16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2305" y="201231"/>
            <a:ext cx="2292350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348472" y="6473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5 of 9  •  Slide 7 of 8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5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Diagram — A First Example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Entities, a relationship, and their attributes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005840" y="3474720"/>
            <a:ext cx="2194560" cy="914400"/>
          </a:xfrm>
          <a:prstGeom prst="rect">
            <a:avLst/>
          </a:prstGeom>
          <a:solidFill>
            <a:srgbClr val="8B1E24"/>
          </a:solidFill>
          <a:ln w="19050">
            <a:solidFill>
              <a:srgbClr val="5C14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4747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961120" y="3474720"/>
            <a:ext cx="2194560" cy="914400"/>
          </a:xfrm>
          <a:prstGeom prst="rect">
            <a:avLst/>
          </a:prstGeom>
          <a:solidFill>
            <a:srgbClr val="8B1E24"/>
          </a:solidFill>
          <a:ln w="19050">
            <a:solidFill>
              <a:srgbClr val="5C14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0" y="34747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166360" y="3364992"/>
            <a:ext cx="1828800" cy="1133856"/>
          </a:xfrm>
          <a:prstGeom prst="diamond">
            <a:avLst/>
          </a:prstGeom>
          <a:solidFill>
            <a:srgbClr val="C89B3C"/>
          </a:solidFill>
          <a:ln w="19050">
            <a:solidFill>
              <a:srgbClr val="5C141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66360" y="3364992"/>
            <a:ext cx="18288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ENROLLS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0" y="3931920"/>
            <a:ext cx="1965960" cy="0"/>
          </a:xfrm>
          <a:prstGeom prst="line">
            <a:avLst/>
          </a:prstGeom>
          <a:noFill/>
          <a:ln w="19050">
            <a:solidFill>
              <a:srgbClr val="231F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35478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95160" y="3931920"/>
            <a:ext cx="1965960" cy="0"/>
          </a:xfrm>
          <a:prstGeom prst="line">
            <a:avLst/>
          </a:prstGeom>
          <a:noFill/>
          <a:ln w="19050">
            <a:solidFill>
              <a:srgbClr val="231F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0" y="35478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1691640"/>
            <a:ext cx="1280160" cy="5029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B1E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16916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325880" y="2194560"/>
            <a:ext cx="0" cy="1280160"/>
          </a:xfrm>
          <a:prstGeom prst="line">
            <a:avLst/>
          </a:prstGeom>
          <a:noFill/>
          <a:ln w="12700">
            <a:solidFill>
              <a:srgbClr val="E9E5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57400" y="1691640"/>
            <a:ext cx="1280160" cy="5029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B1E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57400" y="16916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697480" y="2194560"/>
            <a:ext cx="0" cy="1280160"/>
          </a:xfrm>
          <a:prstGeom prst="line">
            <a:avLst/>
          </a:prstGeom>
          <a:noFill/>
          <a:ln w="12700">
            <a:solidFill>
              <a:srgbClr val="E9E5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23960" y="1691640"/>
            <a:ext cx="1280160" cy="5029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B1E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23960" y="16916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Course_ID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464040" y="2194560"/>
            <a:ext cx="0" cy="1280160"/>
          </a:xfrm>
          <a:prstGeom prst="line">
            <a:avLst/>
          </a:prstGeom>
          <a:noFill/>
          <a:ln w="12700">
            <a:solidFill>
              <a:srgbClr val="E9E5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195560" y="1691640"/>
            <a:ext cx="1280160" cy="5029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B1E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195560" y="16916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0835640" y="2194560"/>
            <a:ext cx="0" cy="1280160"/>
          </a:xfrm>
          <a:prstGeom prst="line">
            <a:avLst/>
          </a:prstGeom>
          <a:noFill/>
          <a:ln w="12700">
            <a:solidFill>
              <a:srgbClr val="E9E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59893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Legend:  Rectangle = Entity   •   Diamond = Relationship   •   Oval = Attribute   •   Underlined/Bold = Key</a:t>
            </a:r>
            <a:endParaRPr lang="en-US" sz="1050" dirty="0"/>
          </a:p>
        </p:txBody>
      </p:sp>
      <p:cxnSp>
        <p:nvCxnSpPr>
          <p:cNvPr id="32" name="Straight Connector 31"/>
          <p:cNvCxnSpPr>
            <a:stCxn id="20" idx="0"/>
            <a:endCxn id="8" idx="0"/>
          </p:cNvCxnSpPr>
          <p:nvPr/>
        </p:nvCxnSpPr>
        <p:spPr>
          <a:xfrm>
            <a:off x="1325880" y="2194560"/>
            <a:ext cx="777240" cy="12801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23" idx="0"/>
            <a:endCxn id="9" idx="0"/>
          </p:cNvCxnSpPr>
          <p:nvPr/>
        </p:nvCxnSpPr>
        <p:spPr>
          <a:xfrm flipH="1">
            <a:off x="2103120" y="2194560"/>
            <a:ext cx="594360" cy="12801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25" idx="2"/>
            <a:endCxn id="11" idx="0"/>
          </p:cNvCxnSpPr>
          <p:nvPr/>
        </p:nvCxnSpPr>
        <p:spPr>
          <a:xfrm>
            <a:off x="9464040" y="2194560"/>
            <a:ext cx="594360" cy="12801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28" idx="2"/>
            <a:endCxn id="11" idx="0"/>
          </p:cNvCxnSpPr>
          <p:nvPr/>
        </p:nvCxnSpPr>
        <p:spPr>
          <a:xfrm flipH="1">
            <a:off x="10058400" y="2194560"/>
            <a:ext cx="777240" cy="12801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348472" y="6473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5 of 9  •  Slide 4 of 8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5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Entities and Entity Sets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'things' a database keeps track of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94767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81965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real-world object or concept that can be distinctly identified (e.g., a specific student)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10210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97408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set: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collection of similar entities (e.g., all students)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425653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12851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entity: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 primary key of its own and exists independently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541096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528294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entity: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uniquely identified without a related strong entity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348472" y="6473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5 of 9  •  Slide 5 of 8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5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Attributes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that describe an entity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52806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41248" y="2057400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41248" y="2551176"/>
            <a:ext cx="48783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Attribute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41248" y="2880360"/>
            <a:ext cx="48783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divided further, e.g., Age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40780" y="1874520"/>
            <a:ext cx="52806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41948" y="2057400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15" name="Text 13"/>
          <p:cNvSpPr/>
          <p:nvPr/>
        </p:nvSpPr>
        <p:spPr>
          <a:xfrm>
            <a:off x="6441948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41948" y="2551176"/>
            <a:ext cx="48783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Composite Attribute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41948" y="2880360"/>
            <a:ext cx="48783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split into sub-parts, e.g., Name → First + Last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" y="3721608"/>
            <a:ext cx="52806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1248" y="3904488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" y="3904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4398264"/>
            <a:ext cx="48783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Derived Attribute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41248" y="4727448"/>
            <a:ext cx="48783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from other attributes, e.g., Age from Date of Birth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40780" y="3721608"/>
            <a:ext cx="52806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41948" y="3904488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25" name="Text 23"/>
          <p:cNvSpPr/>
          <p:nvPr/>
        </p:nvSpPr>
        <p:spPr>
          <a:xfrm>
            <a:off x="6441948" y="3904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41948" y="4398264"/>
            <a:ext cx="48783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Multivalued Attribute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441948" y="4727448"/>
            <a:ext cx="48783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hold more than one value, e.g., Phone Numbers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348472" y="6473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5 of 9  •  Slide 6 of 8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5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Relationships and Relationship Sets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entities connect to each other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94767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81965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association among two or more entities (e.g., a student enrolls in a course)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10210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97408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set: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collection of similar relationships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425653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12851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of entity sets participating (binary, ternary, etc.)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541096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528294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on relationships: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can also carry their own attributes (e.g., Grade on Enrolls)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348472" y="6473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5 of 9  •  Slide 8 of 8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5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&amp; Quick Check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Model — Entities, Attributes, Relationships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34086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221284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 Model represents data as entities, attributes, and relationships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293522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280720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belong to entity sets; weak entities depend on a related strong entity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352958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" y="340156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can be simple, composite, derived, or multivalued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412394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399592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connect entities and may carry their own attributes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309360" y="1828800"/>
            <a:ext cx="4937760" cy="4206240"/>
          </a:xfrm>
          <a:prstGeom prst="roundRect">
            <a:avLst>
              <a:gd name="adj" fmla="val 1739"/>
            </a:avLst>
          </a:prstGeom>
          <a:solidFill>
            <a:srgbClr val="5C1418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83680" y="25146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What is the difference between an entity and an entity set?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83680" y="347472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Give an example each of a derived and a multivalued attribute.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83680" y="44348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 Can a relationship have its own attribute? Give an example.</a:t>
            </a:r>
            <a:endParaRPr lang="en-US" sz="125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625" y="137191"/>
            <a:ext cx="2292350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</TotalTime>
  <Words>583</Words>
  <Application>Microsoft Office PowerPoint</Application>
  <PresentationFormat>Custom</PresentationFormat>
  <Paragraphs>95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Kiran Mayee</cp:lastModifiedBy>
  <cp:revision>4</cp:revision>
  <dcterms:created xsi:type="dcterms:W3CDTF">2026-07-13T23:34:28Z</dcterms:created>
  <dcterms:modified xsi:type="dcterms:W3CDTF">2026-07-21T10:29:00Z</dcterms:modified>
</cp:coreProperties>
</file>