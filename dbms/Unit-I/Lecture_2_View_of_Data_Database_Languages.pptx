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58" r:id="rId5"/>
    <p:sldId id="265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-120" y="-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9066A-B21C-499A-988A-A14FCCE92916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13236-D6A9-42B3-A97C-6A32DD6E6B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08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5C1418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8B1E24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2103120" y="4389120"/>
            <a:ext cx="3840480" cy="3840480"/>
          </a:xfrm>
          <a:prstGeom prst="ellipse">
            <a:avLst/>
          </a:prstGeom>
          <a:solidFill>
            <a:srgbClr val="5C1418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64008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8B1E2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640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of Data &amp; Database Languages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6C9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Abstraction, Independence, DDL and DML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— Introduction to Database Systems and Data 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1 of 8</a:t>
            </a:r>
            <a:endParaRPr lang="en-US" sz="9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</a:t>
            </a:r>
            <a:r>
              <a:rPr lang="en-US" sz="2600" b="1" dirty="0" err="1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TextBooks</a:t>
            </a:r>
            <a:r>
              <a:rPr lang="en-US" sz="2600" b="1" dirty="0" smtClean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</a:t>
            </a:r>
            <a:endParaRPr lang="en-US" sz="2600" dirty="0"/>
          </a:p>
        </p:txBody>
      </p:sp>
      <p:sp>
        <p:nvSpPr>
          <p:cNvPr id="3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“Database System Concepts”, 6th Edition by Abraham </a:t>
            </a:r>
            <a:r>
              <a:rPr lang="en-IN" sz="1600" dirty="0" err="1"/>
              <a:t>Silberschatz</a:t>
            </a:r>
            <a:r>
              <a:rPr lang="en-IN" sz="1600" dirty="0"/>
              <a:t>, Henry F. </a:t>
            </a:r>
            <a:r>
              <a:rPr lang="en-IN" sz="1600" dirty="0" err="1"/>
              <a:t>Korth</a:t>
            </a:r>
            <a:r>
              <a:rPr lang="en-IN" sz="1600" dirty="0"/>
              <a:t>, S. </a:t>
            </a:r>
            <a:r>
              <a:rPr lang="en-IN" sz="1600" dirty="0" err="1"/>
              <a:t>Sudarshan</a:t>
            </a:r>
            <a:r>
              <a:rPr lang="en-IN" sz="1600" dirty="0"/>
              <a:t>, McGraw-Hill.</a:t>
            </a:r>
            <a:endParaRPr lang="en-US" sz="1600" dirty="0"/>
          </a:p>
        </p:txBody>
      </p:sp>
      <p:sp>
        <p:nvSpPr>
          <p:cNvPr id="7" name="Text 8"/>
          <p:cNvSpPr/>
          <p:nvPr/>
        </p:nvSpPr>
        <p:spPr>
          <a:xfrm>
            <a:off x="1298448" y="301897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“Principles of Database and Knowledge – Base Systems”, </a:t>
            </a:r>
            <a:r>
              <a:rPr lang="en-IN" sz="1600" dirty="0" err="1"/>
              <a:t>Vol</a:t>
            </a:r>
            <a:r>
              <a:rPr lang="en-IN" sz="1600" dirty="0"/>
              <a:t> 1 by J. D. Ullman, Computer Science Press.</a:t>
            </a:r>
            <a:endParaRPr lang="en-US" sz="1600" dirty="0"/>
          </a:p>
        </p:txBody>
      </p:sp>
      <p:sp>
        <p:nvSpPr>
          <p:cNvPr id="8" name="Text 8"/>
          <p:cNvSpPr/>
          <p:nvPr/>
        </p:nvSpPr>
        <p:spPr>
          <a:xfrm>
            <a:off x="1298448" y="411079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8000"/>
              </a:lnSpc>
            </a:pPr>
            <a:r>
              <a:rPr lang="en-IN" sz="1600" dirty="0"/>
              <a:t>“Fundamentals of Database Systems”, 5th Edition by R. </a:t>
            </a:r>
            <a:r>
              <a:rPr lang="en-IN" sz="1600" dirty="0" err="1"/>
              <a:t>Elmasri</a:t>
            </a:r>
            <a:r>
              <a:rPr lang="en-IN" sz="1600" dirty="0"/>
              <a:t> and S. </a:t>
            </a:r>
            <a:r>
              <a:rPr lang="en-IN" sz="1600" dirty="0" err="1"/>
              <a:t>Navathe</a:t>
            </a:r>
            <a:r>
              <a:rPr lang="en-IN" sz="1600" dirty="0"/>
              <a:t>, Pearson Education.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1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Shape 6"/>
          <p:cNvSpPr/>
          <p:nvPr/>
        </p:nvSpPr>
        <p:spPr>
          <a:xfrm>
            <a:off x="631891" y="30646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2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Shape 6"/>
          <p:cNvSpPr/>
          <p:nvPr/>
        </p:nvSpPr>
        <p:spPr>
          <a:xfrm>
            <a:off x="640080" y="415651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3</a:t>
            </a:r>
            <a:endParaRPr lang="en-IN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8621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2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session, students will be able to: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8448" y="1938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levels of data abstraction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7157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2688336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a database instance and a schema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4655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3438144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physical and logical data independence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8B1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41879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between DDL and DML</a:t>
            </a:r>
            <a:endParaRPr lang="en-US" sz="1600" dirty="0"/>
          </a:p>
        </p:txBody>
      </p:sp>
      <p:sp>
        <p:nvSpPr>
          <p:cNvPr id="20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3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of Data: Levels of Abstraction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DBMS hides complexity from users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229436"/>
            <a:ext cx="6846399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</a:t>
            </a:r>
            <a:r>
              <a:rPr lang="en-US" sz="1600" b="1" dirty="0" smtClean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– Internal Schema: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data is actually stored (files, indexes, blocks)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075006"/>
            <a:ext cx="6846399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</a:t>
            </a:r>
            <a:r>
              <a:rPr lang="en-US" sz="1600" b="1" dirty="0" smtClean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– Conceptual Schema: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data is stored and the relationships among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1920576"/>
            <a:ext cx="6892119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</a:t>
            </a:r>
            <a:r>
              <a:rPr lang="en-US" sz="1600" b="1" dirty="0" smtClean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- External Schema: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only the part of the database relevant to a specific user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6384" y="5383866"/>
            <a:ext cx="10241280" cy="577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higher level hides the complexity of the level below it</a:t>
            </a:r>
            <a:endParaRPr lang="en-US" sz="1600" dirty="0"/>
          </a:p>
        </p:txBody>
      </p:sp>
      <p:sp>
        <p:nvSpPr>
          <p:cNvPr id="16" name="AutoShape 4" descr="Data Abstraction and Data Independence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19" name="Picture 2" descr="Understanding the Three-Schema Architecture in DBMS | by U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519" y="1554480"/>
            <a:ext cx="3638630" cy="4259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Understanding the Three-Schema Architecture in DBMS | by U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510" y="325703"/>
            <a:ext cx="10537483" cy="622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930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4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Instances and Schemas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related but distinct concepts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design/structure of the database — changes rarely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data stored in the database at a given moment — changes constantly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is like a blueprint; instance is like the furnished house at one point in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types: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schema, logical schema, and view/subschema, matching the abstraction levels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5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applications from storage/structure changes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8B1E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074920" cy="502920"/>
          </a:xfrm>
          <a:prstGeom prst="roundRect">
            <a:avLst>
              <a:gd name="adj" fmla="val 14545"/>
            </a:avLst>
          </a:prstGeom>
          <a:solidFill>
            <a:srgbClr val="5C1418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BFA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physical storage/organization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altering the logical schema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changing file structure or adding indexes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2578608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6519672" y="245059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logical schema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3145536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3017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rewriting application programs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3640" y="37124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358444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231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adding a new attribute to a relation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89320" y="1828800"/>
            <a:ext cx="0" cy="4206240"/>
          </a:xfrm>
          <a:prstGeom prst="line">
            <a:avLst/>
          </a:prstGeom>
          <a:noFill/>
          <a:ln w="15875">
            <a:solidFill>
              <a:srgbClr val="E9E5E0"/>
            </a:solidFill>
            <a:prstDash val="solid"/>
          </a:ln>
        </p:spPr>
      </p:sp>
      <p:sp>
        <p:nvSpPr>
          <p:cNvPr id="25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6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Languages: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users and programs communicate with a DBMS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94767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1965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 — defines and modifies database schema/structure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210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7408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 — retrieves and modifies stored data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25653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851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 — manages permissions (GRANT, REVOKE)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5410962"/>
            <a:ext cx="146304" cy="14630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282946"/>
            <a:ext cx="1024128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TCL:  </a:t>
            </a: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 — manages transactions (COMMIT, ROLLBACK)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7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&amp; DML: Commands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SQL commands by category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07579"/>
              </p:ext>
            </p:extLst>
          </p:nvPr>
        </p:nvGraphicFramePr>
        <p:xfrm>
          <a:off x="640080" y="1874520"/>
          <a:ext cx="10881360" cy="448056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6492240"/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BF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2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table, view, or database object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the structure of an existing object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Permanently remove a database object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data from one or more tables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rows of data into a 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data in a 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31F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existing rows from a table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64240" y="-1188720"/>
            <a:ext cx="2743200" cy="2743200"/>
          </a:xfrm>
          <a:prstGeom prst="ellipse">
            <a:avLst/>
          </a:prstGeom>
          <a:solidFill>
            <a:srgbClr val="E9E5E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486400"/>
            <a:ext cx="2011680" cy="2011680"/>
          </a:xfrm>
          <a:prstGeom prst="ellipse">
            <a:avLst/>
          </a:prstGeom>
          <a:solidFill>
            <a:srgbClr val="E9E5E0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348472" y="64739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of 9  •  Slide 8 of 8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69494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1F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Quick Check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12161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Data &amp; Database Languages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34086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21284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abstraction levels: physical, logical, and 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3522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072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= structure (stable); Instance = data (changes often)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958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34015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independence isolates storage changes; logical independence isolates schema changes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18872" cy="1188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9592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defines structure; DML manipulates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5C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83680" y="25146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difference between a schema and an instance?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Give one example each of physical and logical data independence.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44348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B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SQL command belongs to DDL: ALTER or UPDATE?</a:t>
            </a:r>
            <a:endParaRPr lang="en-US" sz="1600" dirty="0"/>
          </a:p>
        </p:txBody>
      </p:sp>
      <p:sp>
        <p:nvSpPr>
          <p:cNvPr id="22" name="Text 9"/>
          <p:cNvSpPr/>
          <p:nvPr/>
        </p:nvSpPr>
        <p:spPr>
          <a:xfrm>
            <a:off x="640080" y="6217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DBMS for AIML WHALES                                                       Dr. Kiran Mayee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Adavala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,   Professor in </a:t>
            </a:r>
            <a:r>
              <a:rPr lang="en-US" sz="1100" dirty="0" err="1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SoT</a:t>
            </a:r>
            <a:r>
              <a:rPr lang="en-US" sz="1100" dirty="0" smtClean="0">
                <a:solidFill>
                  <a:srgbClr val="9E9E9E"/>
                </a:solidFill>
                <a:latin typeface="Calibri" pitchFamily="34" charset="0"/>
                <a:cs typeface="Calibri" pitchFamily="34" charset="-120"/>
              </a:rPr>
              <a:t>                                       WOXSEN</a:t>
            </a:r>
            <a:endParaRPr lang="en-US" sz="1100" dirty="0"/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399" y="64030"/>
            <a:ext cx="493104" cy="24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787</Words>
  <Application>Microsoft Office PowerPoint</Application>
  <PresentationFormat>Custom</PresentationFormat>
  <Paragraphs>118</Paragraphs>
  <Slides>10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PptxGenJS;AK</dc:creator>
  <cp:lastModifiedBy>Kiran Mayee</cp:lastModifiedBy>
  <cp:revision>10</cp:revision>
  <dcterms:created xsi:type="dcterms:W3CDTF">2026-07-13T23:34:28Z</dcterms:created>
  <dcterms:modified xsi:type="dcterms:W3CDTF">2026-07-16T15:44:02Z</dcterms:modified>
</cp:coreProperties>
</file>