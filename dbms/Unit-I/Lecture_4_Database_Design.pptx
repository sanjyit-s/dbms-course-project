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-120" y="-22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525073-E43C-457C-845D-74AFE22FA747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F10439-6421-4520-BD23-DF31C681F4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321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5C1418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5C1418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-1828800"/>
            <a:ext cx="5486400" cy="5486400"/>
          </a:xfrm>
          <a:prstGeom prst="ellipse">
            <a:avLst/>
          </a:prstGeom>
          <a:solidFill>
            <a:srgbClr val="8B1E24">
              <a:alpha val="8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2103120" y="4389120"/>
            <a:ext cx="3840480" cy="3840480"/>
          </a:xfrm>
          <a:prstGeom prst="ellipse">
            <a:avLst/>
          </a:prstGeom>
          <a:solidFill>
            <a:srgbClr val="5C1418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640080"/>
            <a:ext cx="1737360" cy="502920"/>
          </a:xfrm>
          <a:prstGeom prst="roundRect">
            <a:avLst>
              <a:gd name="adj" fmla="val 50909"/>
            </a:avLst>
          </a:prstGeom>
          <a:solidFill>
            <a:srgbClr val="8B1E2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640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14600" y="6400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 smtClean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40080" y="35204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6C9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and the Design Process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6217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— Introduction to Database Systems and Data Models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348472" y="6473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4 of 9  •  Slide 1 of 8</a:t>
            </a:r>
            <a:endParaRPr lang="en-US" sz="950" dirty="0"/>
          </a:p>
        </p:txBody>
      </p:sp>
      <p:sp>
        <p:nvSpPr>
          <p:cNvPr id="13" name="TextBox 12"/>
          <p:cNvSpPr txBox="1"/>
          <p:nvPr/>
        </p:nvSpPr>
        <p:spPr>
          <a:xfrm>
            <a:off x="9845040" y="182880"/>
            <a:ext cx="2149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C62D8BFC-F75A-4CFA-A2DC-832199053056}" type="datetime8">
              <a:rPr lang="en-US" smtClean="0">
                <a:solidFill>
                  <a:schemeClr val="bg1"/>
                </a:solidFill>
              </a:rPr>
              <a:t>7/16/2026 10:18 AM</a:t>
            </a:fld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348472" y="6473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4 of 9  •  Slide 2 of 8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4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session, students will be able to: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1E2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98448" y="1938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purpose of database design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27157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1E24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98448" y="2688336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phases of the database design process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34655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1E24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98448" y="3438144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core goals a good design should achieve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" y="421538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1E24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98448" y="4187952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common database design pitfalls</a:t>
            </a:r>
            <a:endParaRPr lang="en-US" sz="1600" dirty="0"/>
          </a:p>
        </p:txBody>
      </p:sp>
      <p:sp>
        <p:nvSpPr>
          <p:cNvPr id="21" name="Text 9"/>
          <p:cNvSpPr/>
          <p:nvPr/>
        </p:nvSpPr>
        <p:spPr>
          <a:xfrm>
            <a:off x="502024" y="63139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DBMS for AIML WHALES                                                       Dr. Kiran Mayee </a:t>
            </a:r>
            <a:r>
              <a:rPr lang="en-US" sz="1100" dirty="0" err="1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Adavala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,   Professor in 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 CSE(AI&amp;ML), </a:t>
            </a:r>
            <a:r>
              <a:rPr lang="en-US" sz="1100" dirty="0" err="1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SoT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                                       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WOXSEN</a:t>
            </a:r>
            <a:endParaRPr lang="en-US" sz="1100" dirty="0"/>
          </a:p>
        </p:txBody>
      </p:sp>
      <p:sp>
        <p:nvSpPr>
          <p:cNvPr id="22" name="TextBox 21"/>
          <p:cNvSpPr txBox="1"/>
          <p:nvPr/>
        </p:nvSpPr>
        <p:spPr>
          <a:xfrm>
            <a:off x="9845040" y="182880"/>
            <a:ext cx="2149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C62D8BFC-F75A-4CFA-A2DC-832199053056}" type="datetime8">
              <a:rPr lang="en-US" smtClean="0"/>
              <a:t>7/16/2026 10:18 AM</a:t>
            </a:fld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348472" y="6473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4 of 9  •  Slide 3 of 8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4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Database Design?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requirements into a working structure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94767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81965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of producing a detailed data model of a database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10210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97408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real-world requirements into an efficient, reliable schema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425653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12851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design leads to redundancy, anomalies, and poor performance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541096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528294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schema that supports current needs and adapts to future ones</a:t>
            </a:r>
            <a:endParaRPr lang="en-US" sz="1600" dirty="0"/>
          </a:p>
        </p:txBody>
      </p:sp>
      <p:sp>
        <p:nvSpPr>
          <p:cNvPr id="17" name="Text 9"/>
          <p:cNvSpPr/>
          <p:nvPr/>
        </p:nvSpPr>
        <p:spPr>
          <a:xfrm>
            <a:off x="502024" y="63139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DBMS for AIML WHALES                                                       Dr. Kiran Mayee </a:t>
            </a:r>
            <a:r>
              <a:rPr lang="en-US" sz="1100" dirty="0" err="1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Adavala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,   Professor in 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 CSE(AI&amp;ML), </a:t>
            </a:r>
            <a:r>
              <a:rPr lang="en-US" sz="1100" dirty="0" err="1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SoT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                                       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WOXSEN</a:t>
            </a:r>
            <a:endParaRPr lang="en-US" sz="1100" dirty="0"/>
          </a:p>
        </p:txBody>
      </p:sp>
      <p:sp>
        <p:nvSpPr>
          <p:cNvPr id="18" name="TextBox 17"/>
          <p:cNvSpPr txBox="1"/>
          <p:nvPr/>
        </p:nvSpPr>
        <p:spPr>
          <a:xfrm>
            <a:off x="9845040" y="182880"/>
            <a:ext cx="2149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C62D8BFC-F75A-4CFA-A2DC-832199053056}" type="datetime8">
              <a:rPr lang="en-US" smtClean="0"/>
              <a:t>7/16/2026 10:18 AM</a:t>
            </a:fld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348472" y="6473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4 of 9  •  Slide 4 of 8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4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Database Design Process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broad phases from requirements to implementation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2411730" cy="1828800"/>
          </a:xfrm>
          <a:prstGeom prst="roundRect">
            <a:avLst>
              <a:gd name="adj" fmla="val 4500"/>
            </a:avLst>
          </a:prstGeom>
          <a:solidFill>
            <a:srgbClr val="8B1E24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589913" y="2578608"/>
            <a:ext cx="512064" cy="512064"/>
          </a:xfrm>
          <a:prstGeom prst="ellipse">
            <a:avLst/>
          </a:prstGeom>
          <a:solidFill>
            <a:srgbClr val="FBFAF8"/>
          </a:solidFill>
          <a:ln/>
        </p:spPr>
      </p:sp>
      <p:sp>
        <p:nvSpPr>
          <p:cNvPr id="10" name="Text 8"/>
          <p:cNvSpPr/>
          <p:nvPr/>
        </p:nvSpPr>
        <p:spPr>
          <a:xfrm>
            <a:off x="1589913" y="25786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77240" y="3246120"/>
            <a:ext cx="21374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77240" y="3675888"/>
            <a:ext cx="21374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E9E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what data must be stored and how it will be used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088386" y="3182112"/>
            <a:ext cx="338328" cy="219456"/>
          </a:xfrm>
          <a:prstGeom prst="rightArrow">
            <a:avLst/>
          </a:prstGeom>
          <a:solidFill>
            <a:srgbClr val="C89B3C"/>
          </a:solidFill>
          <a:ln/>
        </p:spPr>
      </p:sp>
      <p:sp>
        <p:nvSpPr>
          <p:cNvPr id="14" name="Shape 12"/>
          <p:cNvSpPr/>
          <p:nvPr/>
        </p:nvSpPr>
        <p:spPr>
          <a:xfrm>
            <a:off x="3463290" y="2377440"/>
            <a:ext cx="2411730" cy="1828800"/>
          </a:xfrm>
          <a:prstGeom prst="roundRect">
            <a:avLst>
              <a:gd name="adj" fmla="val 4500"/>
            </a:avLst>
          </a:prstGeom>
          <a:solidFill>
            <a:srgbClr val="5C1418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13123" y="2578608"/>
            <a:ext cx="512064" cy="512064"/>
          </a:xfrm>
          <a:prstGeom prst="ellipse">
            <a:avLst/>
          </a:prstGeom>
          <a:solidFill>
            <a:srgbClr val="FBFAF8"/>
          </a:solidFill>
          <a:ln/>
        </p:spPr>
      </p:sp>
      <p:sp>
        <p:nvSpPr>
          <p:cNvPr id="16" name="Text 14"/>
          <p:cNvSpPr/>
          <p:nvPr/>
        </p:nvSpPr>
        <p:spPr>
          <a:xfrm>
            <a:off x="4413123" y="25786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600450" y="3246120"/>
            <a:ext cx="21374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Conceptual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600450" y="3675888"/>
            <a:ext cx="21374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E9E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high-level model, typically an ER diagram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11596" y="3182112"/>
            <a:ext cx="338328" cy="219456"/>
          </a:xfrm>
          <a:prstGeom prst="rightArrow">
            <a:avLst/>
          </a:prstGeom>
          <a:solidFill>
            <a:srgbClr val="C89B3C"/>
          </a:solidFill>
          <a:ln/>
        </p:spPr>
      </p:sp>
      <p:sp>
        <p:nvSpPr>
          <p:cNvPr id="20" name="Shape 18"/>
          <p:cNvSpPr/>
          <p:nvPr/>
        </p:nvSpPr>
        <p:spPr>
          <a:xfrm>
            <a:off x="6286500" y="2377440"/>
            <a:ext cx="2411730" cy="1828800"/>
          </a:xfrm>
          <a:prstGeom prst="roundRect">
            <a:avLst>
              <a:gd name="adj" fmla="val 4500"/>
            </a:avLst>
          </a:prstGeom>
          <a:solidFill>
            <a:srgbClr val="8B1E24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236333" y="2578608"/>
            <a:ext cx="512064" cy="512064"/>
          </a:xfrm>
          <a:prstGeom prst="ellipse">
            <a:avLst/>
          </a:prstGeom>
          <a:solidFill>
            <a:srgbClr val="FBFAF8"/>
          </a:solidFill>
          <a:ln/>
        </p:spPr>
      </p:sp>
      <p:sp>
        <p:nvSpPr>
          <p:cNvPr id="22" name="Text 20"/>
          <p:cNvSpPr/>
          <p:nvPr/>
        </p:nvSpPr>
        <p:spPr>
          <a:xfrm>
            <a:off x="7236333" y="25786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423660" y="3246120"/>
            <a:ext cx="21374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23660" y="3675888"/>
            <a:ext cx="21374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E9E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conceptual model to a specific data model (e.g., relational)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734806" y="3182112"/>
            <a:ext cx="338328" cy="219456"/>
          </a:xfrm>
          <a:prstGeom prst="rightArrow">
            <a:avLst/>
          </a:prstGeom>
          <a:solidFill>
            <a:srgbClr val="C89B3C"/>
          </a:solidFill>
          <a:ln/>
        </p:spPr>
      </p:sp>
      <p:sp>
        <p:nvSpPr>
          <p:cNvPr id="26" name="Shape 24"/>
          <p:cNvSpPr/>
          <p:nvPr/>
        </p:nvSpPr>
        <p:spPr>
          <a:xfrm>
            <a:off x="9109710" y="2377440"/>
            <a:ext cx="2411730" cy="1828800"/>
          </a:xfrm>
          <a:prstGeom prst="roundRect">
            <a:avLst>
              <a:gd name="adj" fmla="val 4500"/>
            </a:avLst>
          </a:prstGeom>
          <a:solidFill>
            <a:srgbClr val="5C1418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0059543" y="2578608"/>
            <a:ext cx="512064" cy="512064"/>
          </a:xfrm>
          <a:prstGeom prst="ellipse">
            <a:avLst/>
          </a:prstGeom>
          <a:solidFill>
            <a:srgbClr val="FBFAF8"/>
          </a:solidFill>
          <a:ln/>
        </p:spPr>
      </p:sp>
      <p:sp>
        <p:nvSpPr>
          <p:cNvPr id="28" name="Text 26"/>
          <p:cNvSpPr/>
          <p:nvPr/>
        </p:nvSpPr>
        <p:spPr>
          <a:xfrm>
            <a:off x="10059543" y="25786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246870" y="3246120"/>
            <a:ext cx="21374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9246870" y="3675888"/>
            <a:ext cx="21374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E9E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storage structures, indexes, and access paths</a:t>
            </a:r>
            <a:endParaRPr lang="en-US" sz="1000" dirty="0"/>
          </a:p>
        </p:txBody>
      </p:sp>
      <p:sp>
        <p:nvSpPr>
          <p:cNvPr id="32" name="Text 9"/>
          <p:cNvSpPr/>
          <p:nvPr/>
        </p:nvSpPr>
        <p:spPr>
          <a:xfrm>
            <a:off x="502024" y="63139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DBMS for AIML WHALES                                                       Dr. Kiran Mayee </a:t>
            </a:r>
            <a:r>
              <a:rPr lang="en-US" sz="1100" dirty="0" err="1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Adavala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,   Professor in 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 CSE(AI&amp;ML), </a:t>
            </a:r>
            <a:r>
              <a:rPr lang="en-US" sz="1100" dirty="0" err="1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SoT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                                       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WOXSEN</a:t>
            </a:r>
            <a:endParaRPr lang="en-US" sz="1100" dirty="0"/>
          </a:p>
        </p:txBody>
      </p:sp>
      <p:sp>
        <p:nvSpPr>
          <p:cNvPr id="33" name="TextBox 32"/>
          <p:cNvSpPr txBox="1"/>
          <p:nvPr/>
        </p:nvSpPr>
        <p:spPr>
          <a:xfrm>
            <a:off x="9845040" y="182880"/>
            <a:ext cx="2149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C62D8BFC-F75A-4CFA-A2DC-832199053056}" type="datetime8">
              <a:rPr lang="en-US" smtClean="0"/>
              <a:t>7/16/2026 10:19 AM</a:t>
            </a:fld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348472" y="6473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4 of 9  •  Slide 5 of 8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4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 Goals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well-designed database should achieve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94767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81965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redundancy: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each fact only once wherever possible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10210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97408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integrity: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accuracy and consistency through constraints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425653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12851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efficient access: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data for fast, predictable queries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541096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528294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the schema to grow without major redesign</a:t>
            </a:r>
            <a:endParaRPr lang="en-US" sz="1600" dirty="0"/>
          </a:p>
        </p:txBody>
      </p:sp>
      <p:sp>
        <p:nvSpPr>
          <p:cNvPr id="17" name="Text 9"/>
          <p:cNvSpPr/>
          <p:nvPr/>
        </p:nvSpPr>
        <p:spPr>
          <a:xfrm>
            <a:off x="502024" y="63139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DBMS for AIML WHALES                                                       Dr. Kiran Mayee </a:t>
            </a:r>
            <a:r>
              <a:rPr lang="en-US" sz="1100" dirty="0" err="1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Adavala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,   Professor in 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 CSE(AI&amp;ML), </a:t>
            </a:r>
            <a:r>
              <a:rPr lang="en-US" sz="1100" dirty="0" err="1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SoT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                                       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WOXSEN</a:t>
            </a:r>
            <a:endParaRPr lang="en-US" sz="1100" dirty="0"/>
          </a:p>
        </p:txBody>
      </p:sp>
      <p:sp>
        <p:nvSpPr>
          <p:cNvPr id="18" name="TextBox 17"/>
          <p:cNvSpPr txBox="1"/>
          <p:nvPr/>
        </p:nvSpPr>
        <p:spPr>
          <a:xfrm>
            <a:off x="9845040" y="182880"/>
            <a:ext cx="2149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C62D8BFC-F75A-4CFA-A2DC-832199053056}" type="datetime8">
              <a:rPr lang="en-US" smtClean="0"/>
              <a:t>7/16/2026 10:19 AM</a:t>
            </a:fld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348472" y="6473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4 of 9  •  Slide 6 of 8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4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Database Design Pitfalls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to avoid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94767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81965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data: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the same fact in multiple places invites inconsistency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10210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97408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constraints: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keys or validation rules allows bad data to enter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425653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12851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Over-normalization: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splitting of tables can hurt query performance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541096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528294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Ignoring future needs: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only for today's requirements limits scalability</a:t>
            </a:r>
            <a:endParaRPr lang="en-US" sz="1600" dirty="0"/>
          </a:p>
        </p:txBody>
      </p:sp>
      <p:sp>
        <p:nvSpPr>
          <p:cNvPr id="17" name="Text 9"/>
          <p:cNvSpPr/>
          <p:nvPr/>
        </p:nvSpPr>
        <p:spPr>
          <a:xfrm>
            <a:off x="502024" y="63139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DBMS for AIML WHALES                                                       Dr. Kiran Mayee </a:t>
            </a:r>
            <a:r>
              <a:rPr lang="en-US" sz="1100" dirty="0" err="1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Adavala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,   Professor in 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 CSE(AI&amp;ML), </a:t>
            </a:r>
            <a:r>
              <a:rPr lang="en-US" sz="1100" dirty="0" err="1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SoT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                                       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WOXSEN</a:t>
            </a:r>
            <a:endParaRPr lang="en-US" sz="1100" dirty="0"/>
          </a:p>
        </p:txBody>
      </p:sp>
      <p:sp>
        <p:nvSpPr>
          <p:cNvPr id="18" name="TextBox 17"/>
          <p:cNvSpPr txBox="1"/>
          <p:nvPr/>
        </p:nvSpPr>
        <p:spPr>
          <a:xfrm>
            <a:off x="9845040" y="182880"/>
            <a:ext cx="2149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C62D8BFC-F75A-4CFA-A2DC-832199053056}" type="datetime8">
              <a:rPr lang="en-US" smtClean="0"/>
              <a:t>7/16/2026 10:19 AM</a:t>
            </a:fld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348472" y="6473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4 of 9  •  Slide 7 of 8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4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Design vs. Poor Design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contrast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5074920" cy="502920"/>
          </a:xfrm>
          <a:prstGeom prst="roundRect">
            <a:avLst>
              <a:gd name="adj" fmla="val 14545"/>
            </a:avLst>
          </a:prstGeom>
          <a:solidFill>
            <a:srgbClr val="8B1E2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2880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Poor Design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63640" y="1828800"/>
            <a:ext cx="5074920" cy="502920"/>
          </a:xfrm>
          <a:prstGeom prst="roundRect">
            <a:avLst>
              <a:gd name="adj" fmla="val 14545"/>
            </a:avLst>
          </a:prstGeom>
          <a:solidFill>
            <a:srgbClr val="5C1418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182880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Design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2578608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245059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data across tables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3145536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896112" y="301752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primary/foreign keys defined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371246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7" name="Text 15"/>
          <p:cNvSpPr/>
          <p:nvPr/>
        </p:nvSpPr>
        <p:spPr>
          <a:xfrm>
            <a:off x="896112" y="358444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anomalies are common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" y="4279392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151376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extend or modify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63640" y="2578608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21" name="Text 19"/>
          <p:cNvSpPr/>
          <p:nvPr/>
        </p:nvSpPr>
        <p:spPr>
          <a:xfrm>
            <a:off x="6519672" y="245059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fact stored once (normalized)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63640" y="3145536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23" name="Text 21"/>
          <p:cNvSpPr/>
          <p:nvPr/>
        </p:nvSpPr>
        <p:spPr>
          <a:xfrm>
            <a:off x="6519672" y="301752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and constraints clearly defined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63640" y="371246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25" name="Text 23"/>
          <p:cNvSpPr/>
          <p:nvPr/>
        </p:nvSpPr>
        <p:spPr>
          <a:xfrm>
            <a:off x="6519672" y="358444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anomaly-free updates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63640" y="4279392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27" name="Text 25"/>
          <p:cNvSpPr/>
          <p:nvPr/>
        </p:nvSpPr>
        <p:spPr>
          <a:xfrm>
            <a:off x="6519672" y="4151376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extend with new requirements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989320" y="1828800"/>
            <a:ext cx="0" cy="4206240"/>
          </a:xfrm>
          <a:prstGeom prst="line">
            <a:avLst/>
          </a:prstGeom>
          <a:noFill/>
          <a:ln w="15875">
            <a:solidFill>
              <a:srgbClr val="E9E5E0"/>
            </a:solidFill>
            <a:prstDash val="solid"/>
          </a:ln>
        </p:spPr>
      </p:sp>
      <p:sp>
        <p:nvSpPr>
          <p:cNvPr id="30" name="Text 9"/>
          <p:cNvSpPr/>
          <p:nvPr/>
        </p:nvSpPr>
        <p:spPr>
          <a:xfrm>
            <a:off x="502024" y="63139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DBMS for AIML WHALES                                                       Dr. Kiran Mayee </a:t>
            </a:r>
            <a:r>
              <a:rPr lang="en-US" sz="1100" dirty="0" err="1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Adavala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,   Professor in 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 CSE(AI&amp;ML), </a:t>
            </a:r>
            <a:r>
              <a:rPr lang="en-US" sz="1100" dirty="0" err="1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SoT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                                       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WOXSEN</a:t>
            </a:r>
            <a:endParaRPr lang="en-US" sz="1100" dirty="0"/>
          </a:p>
        </p:txBody>
      </p:sp>
      <p:sp>
        <p:nvSpPr>
          <p:cNvPr id="31" name="TextBox 30"/>
          <p:cNvSpPr txBox="1"/>
          <p:nvPr/>
        </p:nvSpPr>
        <p:spPr>
          <a:xfrm>
            <a:off x="9845040" y="182880"/>
            <a:ext cx="2149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C62D8BFC-F75A-4CFA-A2DC-832199053056}" type="datetime8">
              <a:rPr lang="en-US" smtClean="0"/>
              <a:t>7/16/2026 10:18 AM</a:t>
            </a:fld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348472" y="6473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4 of 9  •  Slide 8 of 8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4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&amp; Quick Check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34086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221284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converts requirements into an efficient schema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293522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280720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moves through requirements, conceptual, logical, and physical design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352958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" y="340156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design avoids redundancy while ensuring integrity and scalability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412394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399592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pitfalls include missing constraints and over- or under-normalization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309360" y="1828800"/>
            <a:ext cx="4937760" cy="4206240"/>
          </a:xfrm>
          <a:prstGeom prst="roundRect">
            <a:avLst>
              <a:gd name="adj" fmla="val 1739"/>
            </a:avLst>
          </a:prstGeom>
          <a:solidFill>
            <a:srgbClr val="5C1418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83680" y="25146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List the four phases of the database design process in order.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83680" y="347472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What is one goal every database design should aim for?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83680" y="44348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Name a common pitfall in database design.</a:t>
            </a:r>
            <a:endParaRPr lang="en-US" sz="1600" dirty="0"/>
          </a:p>
        </p:txBody>
      </p:sp>
      <p:sp>
        <p:nvSpPr>
          <p:cNvPr id="23" name="Text 9"/>
          <p:cNvSpPr/>
          <p:nvPr/>
        </p:nvSpPr>
        <p:spPr>
          <a:xfrm>
            <a:off x="502024" y="63139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DBMS for AIML WHALES                                                       Dr. Kiran Mayee </a:t>
            </a:r>
            <a:r>
              <a:rPr lang="en-US" sz="1100" dirty="0" err="1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Adavala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,   Professor in 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 CSE(AI&amp;ML), </a:t>
            </a:r>
            <a:r>
              <a:rPr lang="en-US" sz="1100" dirty="0" err="1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SoT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                                       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WOXSEN</a:t>
            </a:r>
            <a:endParaRPr lang="en-US" sz="1100" dirty="0"/>
          </a:p>
        </p:txBody>
      </p:sp>
      <p:sp>
        <p:nvSpPr>
          <p:cNvPr id="24" name="TextBox 23"/>
          <p:cNvSpPr txBox="1"/>
          <p:nvPr/>
        </p:nvSpPr>
        <p:spPr>
          <a:xfrm>
            <a:off x="9845040" y="182880"/>
            <a:ext cx="2149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C62D8BFC-F75A-4CFA-A2DC-832199053056}" type="datetime8">
              <a:rPr lang="en-US" smtClean="0"/>
              <a:t>7/16/2026 10:19 AM</a:t>
            </a:fld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652</Words>
  <Application>Microsoft Office PowerPoint</Application>
  <PresentationFormat>Custom</PresentationFormat>
  <Paragraphs>112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Kiran Mayee</cp:lastModifiedBy>
  <cp:revision>7</cp:revision>
  <dcterms:created xsi:type="dcterms:W3CDTF">2026-07-13T23:34:28Z</dcterms:created>
  <dcterms:modified xsi:type="dcterms:W3CDTF">2026-07-16T04:55:05Z</dcterms:modified>
</cp:coreProperties>
</file>