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85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91" r:id="rId16"/>
    <p:sldId id="292" r:id="rId17"/>
    <p:sldId id="289" r:id="rId18"/>
    <p:sldId id="290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6" r:id="rId32"/>
    <p:sldId id="282" r:id="rId33"/>
    <p:sldId id="283" r:id="rId34"/>
    <p:sldId id="284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D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828800"/>
            <a:ext cx="106984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rPr sz="4400" dirty="0">
                <a:latin typeface="Algerian" panose="04020705040A02060702" pitchFamily="82" charset="0"/>
              </a:rPr>
              <a:t>Normalization in DBMS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18114" y="3337560"/>
            <a:ext cx="7920446" cy="2028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 sz="2200" b="0">
                <a:solidFill>
                  <a:srgbClr val="DCE6F0"/>
                </a:solidFill>
              </a:defRPr>
            </a:pPr>
            <a:r>
              <a:rPr dirty="0"/>
              <a:t>• Functional Dependencies </a:t>
            </a:r>
            <a:endParaRPr lang="en-US" dirty="0"/>
          </a:p>
          <a:p>
            <a:pPr>
              <a:lnSpc>
                <a:spcPct val="200000"/>
              </a:lnSpc>
              <a:defRPr sz="2200" b="0">
                <a:solidFill>
                  <a:srgbClr val="DCE6F0"/>
                </a:solidFill>
              </a:defRPr>
            </a:pPr>
            <a:r>
              <a:rPr dirty="0"/>
              <a:t>• 1NF to 5NF </a:t>
            </a:r>
            <a:endParaRPr lang="en-US" dirty="0"/>
          </a:p>
          <a:p>
            <a:pPr>
              <a:lnSpc>
                <a:spcPct val="200000"/>
              </a:lnSpc>
              <a:defRPr sz="2200" b="0">
                <a:solidFill>
                  <a:srgbClr val="DCE6F0"/>
                </a:solidFill>
              </a:defRPr>
            </a:pPr>
            <a:r>
              <a:rPr dirty="0"/>
              <a:t>•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4521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spcAft>
                <a:spcPts val="1000"/>
              </a:spcAft>
              <a:buFont typeface="Wingdings" panose="05000000000000000000" pitchFamily="2" charset="2"/>
              <a:buChar char="q"/>
              <a:defRPr sz="2100">
                <a:solidFill>
                  <a:srgbClr val="232323"/>
                </a:solidFill>
              </a:defRPr>
            </a:pPr>
            <a:r>
              <a:rPr dirty="0"/>
              <a:t>Explain why normalization is required in relational database design.</a:t>
            </a:r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Font typeface="Wingdings" panose="05000000000000000000" pitchFamily="2" charset="2"/>
              <a:buChar char="q"/>
              <a:defRPr sz="2100">
                <a:solidFill>
                  <a:srgbClr val="232323"/>
                </a:solidFill>
              </a:defRPr>
            </a:pPr>
            <a:r>
              <a:rPr dirty="0"/>
              <a:t>Identify functional dependencies, candidate keys, prime attributes, and determinants.</a:t>
            </a:r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Font typeface="Wingdings" panose="05000000000000000000" pitchFamily="2" charset="2"/>
              <a:buChar char="q"/>
              <a:defRPr sz="2100">
                <a:solidFill>
                  <a:srgbClr val="232323"/>
                </a:solidFill>
              </a:defRPr>
            </a:pPr>
            <a:r>
              <a:rPr dirty="0"/>
              <a:t>Transform relations systematically into 1NF, 2NF, 3NF, and BCNF.</a:t>
            </a:r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Font typeface="Wingdings" panose="05000000000000000000" pitchFamily="2" charset="2"/>
              <a:buChar char="q"/>
              <a:defRPr sz="2100">
                <a:solidFill>
                  <a:srgbClr val="232323"/>
                </a:solidFill>
              </a:defRPr>
            </a:pPr>
            <a:r>
              <a:rPr dirty="0"/>
              <a:t>Understand 4NF and 5NF and when they become relevant.</a:t>
            </a:r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Font typeface="Wingdings" panose="05000000000000000000" pitchFamily="2" charset="2"/>
              <a:buChar char="q"/>
              <a:defRPr sz="2100">
                <a:solidFill>
                  <a:srgbClr val="232323"/>
                </a:solidFill>
              </a:defRPr>
            </a:pPr>
            <a:r>
              <a:rPr dirty="0"/>
              <a:t>Perform lossless-join and dependency-preservation analysis.</a:t>
            </a:r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Font typeface="Wingdings" panose="05000000000000000000" pitchFamily="2" charset="2"/>
              <a:buChar char="q"/>
              <a:defRPr sz="2100">
                <a:solidFill>
                  <a:srgbClr val="232323"/>
                </a:solidFill>
              </a:defRPr>
            </a:pPr>
            <a:r>
              <a:rPr dirty="0"/>
              <a:t>Recognize anomalies and trade-offs between normalization and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Why Normalize?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8714" y="1097280"/>
            <a:ext cx="11364686" cy="5295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Normalization organizes attributes and relationships so that each fact is stored in an appropriate place.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b="1" dirty="0">
                <a:solidFill>
                  <a:schemeClr val="tx2"/>
                </a:solidFill>
              </a:rPr>
              <a:t>Main goals: </a:t>
            </a:r>
            <a:endParaRPr lang="en-US" b="1" dirty="0">
              <a:solidFill>
                <a:schemeClr val="tx2"/>
              </a:solidFill>
            </a:endParaRPr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Font typeface="Wingdings" panose="05000000000000000000" pitchFamily="2" charset="2"/>
              <a:buChar char="q"/>
              <a:defRPr sz="2100">
                <a:solidFill>
                  <a:srgbClr val="232323"/>
                </a:solidFill>
              </a:defRPr>
            </a:pPr>
            <a:r>
              <a:rPr dirty="0"/>
              <a:t>reduce redundancy</a:t>
            </a:r>
            <a:endParaRPr lang="en-US" dirty="0"/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Font typeface="Wingdings" panose="05000000000000000000" pitchFamily="2" charset="2"/>
              <a:buChar char="q"/>
              <a:defRPr sz="2100">
                <a:solidFill>
                  <a:srgbClr val="232323"/>
                </a:solidFill>
              </a:defRPr>
            </a:pPr>
            <a:r>
              <a:rPr dirty="0"/>
              <a:t>prevent update anomalies</a:t>
            </a:r>
            <a:endParaRPr lang="en-US" dirty="0"/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Font typeface="Wingdings" panose="05000000000000000000" pitchFamily="2" charset="2"/>
              <a:buChar char="q"/>
              <a:defRPr sz="2100">
                <a:solidFill>
                  <a:srgbClr val="232323"/>
                </a:solidFill>
              </a:defRPr>
            </a:pPr>
            <a:r>
              <a:rPr dirty="0"/>
              <a:t>improve integrity, and simplify maintenance.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Poorly designed tables often </a:t>
            </a:r>
            <a:r>
              <a:rPr u="sng" dirty="0"/>
              <a:t>mix</a:t>
            </a:r>
            <a:r>
              <a:rPr dirty="0"/>
              <a:t> multiple independent facts in one relation.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Normalization is primarily </a:t>
            </a:r>
            <a:r>
              <a:rPr u="sng" dirty="0"/>
              <a:t>a design technique</a:t>
            </a:r>
            <a:r>
              <a:rPr dirty="0"/>
              <a:t>—not simply a method of making tables smaller.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4F3BFA-82CC-A1E5-3F5F-46350D62F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EA5D65-2A67-301B-4C3B-CF8464A87EED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6A9028-FC45-9926-04D8-940EDF75E186}"/>
              </a:ext>
            </a:extLst>
          </p:cNvPr>
          <p:cNvSpPr txBox="1"/>
          <p:nvPr/>
        </p:nvSpPr>
        <p:spPr>
          <a:xfrm>
            <a:off x="50292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Why Normalize?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937E15-B498-E193-CBA4-7E4FA9CBD5F4}"/>
              </a:ext>
            </a:extLst>
          </p:cNvPr>
          <p:cNvSpPr txBox="1"/>
          <p:nvPr/>
        </p:nvSpPr>
        <p:spPr>
          <a:xfrm>
            <a:off x="600891" y="1206138"/>
            <a:ext cx="63115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2782D"/>
                </a:solidFill>
              </a:defRPr>
            </a:pPr>
            <a:r>
              <a:rPr sz="2400" dirty="0"/>
              <a:t>Typical symptoms of poor design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FFB950-426A-B502-9FF9-14EE0BEBB29A}"/>
              </a:ext>
            </a:extLst>
          </p:cNvPr>
          <p:cNvSpPr txBox="1"/>
          <p:nvPr/>
        </p:nvSpPr>
        <p:spPr>
          <a:xfrm>
            <a:off x="681446" y="2028228"/>
            <a:ext cx="5029200" cy="2853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spcAft>
                <a:spcPts val="1000"/>
              </a:spcAft>
              <a:buFont typeface="Wingdings" panose="05000000000000000000" pitchFamily="2" charset="2"/>
              <a:buChar char="q"/>
              <a:defRPr sz="1600">
                <a:solidFill>
                  <a:srgbClr val="232323"/>
                </a:solidFill>
              </a:defRPr>
            </a:pPr>
            <a:r>
              <a:rPr sz="2000" dirty="0"/>
              <a:t>Repeated values</a:t>
            </a:r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Font typeface="Wingdings" panose="05000000000000000000" pitchFamily="2" charset="2"/>
              <a:buChar char="q"/>
              <a:defRPr sz="1600">
                <a:solidFill>
                  <a:srgbClr val="232323"/>
                </a:solidFill>
              </a:defRPr>
            </a:pPr>
            <a:r>
              <a:rPr sz="2000" dirty="0"/>
              <a:t>Conflicting copies of the same fact</a:t>
            </a:r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Font typeface="Wingdings" panose="05000000000000000000" pitchFamily="2" charset="2"/>
              <a:buChar char="q"/>
              <a:defRPr sz="1600">
                <a:solidFill>
                  <a:srgbClr val="232323"/>
                </a:solidFill>
              </a:defRPr>
            </a:pPr>
            <a:r>
              <a:rPr sz="2000" dirty="0"/>
              <a:t>NULL-heavy records</a:t>
            </a:r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Font typeface="Wingdings" panose="05000000000000000000" pitchFamily="2" charset="2"/>
              <a:buChar char="q"/>
              <a:defRPr sz="1600">
                <a:solidFill>
                  <a:srgbClr val="232323"/>
                </a:solidFill>
              </a:defRPr>
            </a:pPr>
            <a:r>
              <a:rPr sz="2000" dirty="0"/>
              <a:t>Difficult inserts/deletes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FB9D5F-213A-1C3A-1514-E0C5E451F699}"/>
              </a:ext>
            </a:extLst>
          </p:cNvPr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9"/>
                </a:solidFill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88295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The Three Classic Anomalies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0378822"/>
              </p:ext>
            </p:extLst>
          </p:nvPr>
        </p:nvGraphicFramePr>
        <p:xfrm>
          <a:off x="337457" y="1234440"/>
          <a:ext cx="11275423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8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63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2014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 dirty="0"/>
                        <a:t>Anomaly</a:t>
                      </a:r>
                    </a:p>
                  </a:txBody>
                  <a:tcPr>
                    <a:solidFill>
                      <a:srgbClr val="182D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What happens</a:t>
                      </a:r>
                    </a:p>
                  </a:txBody>
                  <a:tcPr>
                    <a:solidFill>
                      <a:srgbClr val="182D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Example</a:t>
                      </a:r>
                    </a:p>
                  </a:txBody>
                  <a:tcPr>
                    <a:solidFill>
                      <a:srgbClr val="182D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014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Same fact must be changed in many rows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Change instructor phone 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014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Insertion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Cannot store a fact without an unrelated fact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New course requires a student row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014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Deletion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Deleting one fact accidentally removes another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Last enrollment deletes course information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Running Example: Student–Course Enrollment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8725606"/>
              </p:ext>
            </p:extLst>
          </p:nvPr>
        </p:nvGraphicFramePr>
        <p:xfrm>
          <a:off x="548640" y="123444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9611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 dirty="0" err="1"/>
                        <a:t>StudentID</a:t>
                      </a:r>
                      <a:endParaRPr sz="2000" dirty="0"/>
                    </a:p>
                  </a:txBody>
                  <a:tcPr>
                    <a:solidFill>
                      <a:srgbClr val="182D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 dirty="0" err="1"/>
                        <a:t>StudentName</a:t>
                      </a:r>
                      <a:endParaRPr sz="2000" dirty="0"/>
                    </a:p>
                  </a:txBody>
                  <a:tcPr>
                    <a:solidFill>
                      <a:srgbClr val="182D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 dirty="0" err="1"/>
                        <a:t>CourseID</a:t>
                      </a:r>
                      <a:endParaRPr sz="2000" dirty="0"/>
                    </a:p>
                  </a:txBody>
                  <a:tcPr>
                    <a:solidFill>
                      <a:srgbClr val="182D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 dirty="0" err="1"/>
                        <a:t>CourseName</a:t>
                      </a:r>
                      <a:endParaRPr sz="2000" dirty="0"/>
                    </a:p>
                  </a:txBody>
                  <a:tcPr>
                    <a:solidFill>
                      <a:srgbClr val="182D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 dirty="0"/>
                        <a:t>Instructor</a:t>
                      </a:r>
                    </a:p>
                  </a:txBody>
                  <a:tcPr>
                    <a:solidFill>
                      <a:srgbClr val="182D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 dirty="0"/>
                        <a:t>Grade</a:t>
                      </a:r>
                    </a:p>
                  </a:txBody>
                  <a:tcPr>
                    <a:solidFill>
                      <a:srgbClr val="182D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S101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Asha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C101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DBMS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Dr Rao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S101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Asha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C102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OS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Dr Mehta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B+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S102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Vikram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C101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DBMS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Dr Rao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A-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S103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Neha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C103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AI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Dr Shah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A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897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2782D"/>
                </a:solidFill>
              </a:defRPr>
            </a:pPr>
            <a:r>
              <a:t>A single row mixes student facts, course facts, instructor facts, and enrollment facts.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Functional Dependency (FD)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3908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b="1" dirty="0"/>
              <a:t>A functional dependency X → Y means: if two tuples agree on X, they must also agree on Y.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X is the determinant; Y is functionally dependent on X.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Example: </a:t>
            </a:r>
            <a:r>
              <a:rPr dirty="0" err="1"/>
              <a:t>StudentID</a:t>
            </a:r>
            <a:r>
              <a:rPr dirty="0"/>
              <a:t> → </a:t>
            </a:r>
            <a:r>
              <a:rPr dirty="0" err="1"/>
              <a:t>StudentName</a:t>
            </a:r>
            <a:r>
              <a:rPr dirty="0"/>
              <a:t>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Example: </a:t>
            </a:r>
            <a:r>
              <a:rPr dirty="0" err="1"/>
              <a:t>CourseID</a:t>
            </a:r>
            <a:r>
              <a:rPr dirty="0"/>
              <a:t> → </a:t>
            </a:r>
            <a:r>
              <a:rPr dirty="0" err="1"/>
              <a:t>CourseName</a:t>
            </a:r>
            <a:r>
              <a:rPr dirty="0"/>
              <a:t>, Instructor.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FDs are semantic rules about the data—not merely patterns observed in a sample.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495096"/>
            <a:ext cx="1645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0A0"/>
                </a:solidFill>
              </a:defRPr>
            </a:pPr>
            <a:r>
              <a:rPr sz="2400" dirty="0"/>
              <a:t>Notation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98766" y="55092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D4B"/>
                </a:solidFill>
              </a:defRPr>
            </a:pPr>
            <a:r>
              <a:rPr dirty="0"/>
              <a:t>X → Y   means   X uniquely determines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Keys and Attribute Concepts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110269"/>
              </p:ext>
            </p:extLst>
          </p:nvPr>
        </p:nvGraphicFramePr>
        <p:xfrm>
          <a:off x="283029" y="1234440"/>
          <a:ext cx="11604171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8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8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 dirty="0"/>
                        <a:t>Concept</a:t>
                      </a:r>
                    </a:p>
                  </a:txBody>
                  <a:tcPr>
                    <a:solidFill>
                      <a:srgbClr val="182D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Meaning</a:t>
                      </a:r>
                    </a:p>
                  </a:txBody>
                  <a:tcPr>
                    <a:solidFill>
                      <a:srgbClr val="182D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Example</a:t>
                      </a:r>
                    </a:p>
                  </a:txBody>
                  <a:tcPr>
                    <a:solidFill>
                      <a:srgbClr val="182D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Superkey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Any attribute set that uniquely identifies a tuple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{StudentID, CourseID}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Candidate key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Minimal </a:t>
                      </a:r>
                      <a:r>
                        <a:rPr sz="2000" dirty="0" err="1"/>
                        <a:t>superkey</a:t>
                      </a:r>
                      <a:endParaRPr sz="2000" dirty="0"/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{StudentID, CourseID}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Primary 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Candidate key selected to identify rows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 err="1"/>
                        <a:t>StudentID</a:t>
                      </a:r>
                      <a:r>
                        <a:rPr sz="2000" dirty="0"/>
                        <a:t> + </a:t>
                      </a:r>
                      <a:r>
                        <a:rPr sz="2000" dirty="0" err="1"/>
                        <a:t>CourseID</a:t>
                      </a:r>
                      <a:endParaRPr sz="2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Prime attribute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Attribute belonging to a candidate key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 err="1"/>
                        <a:t>StudentID</a:t>
                      </a:r>
                      <a:r>
                        <a:rPr sz="2000" dirty="0"/>
                        <a:t>, </a:t>
                      </a:r>
                      <a:r>
                        <a:rPr sz="2000" dirty="0" err="1"/>
                        <a:t>CourseID</a:t>
                      </a:r>
                      <a:endParaRPr sz="2000" dirty="0"/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Non-prime attribute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Attribute not belonging to any candidate 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 err="1"/>
                        <a:t>StudentName</a:t>
                      </a:r>
                      <a:r>
                        <a:rPr sz="2000" dirty="0"/>
                        <a:t>, Grade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Attribute 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The closure X⁺ is the set of attributes functionally determined by X under a set of FDs.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Use closure to test whether X is a </a:t>
            </a:r>
            <a:r>
              <a:rPr dirty="0" err="1"/>
              <a:t>superkey</a:t>
            </a:r>
            <a:r>
              <a:rPr dirty="0"/>
              <a:t>: if X⁺ contains every attribute in the relation, X is a </a:t>
            </a:r>
            <a:r>
              <a:rPr dirty="0" err="1"/>
              <a:t>superkey</a:t>
            </a:r>
            <a:r>
              <a:rPr dirty="0"/>
              <a:t>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Closure is also useful for finding candidate keys and checking FD implication.</a:t>
            </a:r>
            <a:endParaRPr lang="en-US" dirty="0"/>
          </a:p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b="1" dirty="0"/>
              <a:t>Algorithm: </a:t>
            </a:r>
            <a:endParaRPr lang="en-US" b="1" dirty="0"/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lang="en-US" dirty="0"/>
              <a:t>1. </a:t>
            </a:r>
            <a:r>
              <a:rPr dirty="0"/>
              <a:t>start with X; </a:t>
            </a:r>
            <a:endParaRPr lang="en-US" dirty="0"/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lang="en-US" dirty="0"/>
              <a:t>2. R</a:t>
            </a:r>
            <a:r>
              <a:rPr dirty="0"/>
              <a:t>epeatedly add attributes implied by applicable FDs until no new attribute can be added.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93823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C7858"/>
                </a:solidFill>
              </a:defRPr>
            </a:pPr>
            <a:r>
              <a:rPr dirty="0"/>
              <a:t>Example: F = {A→B, B→C, C→D}; A⁺ = {A,B,C,D}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First Normal Form (1NF)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1364686" cy="297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b="1" dirty="0"/>
              <a:t>A relation is in 1NF when attribute values are atomic with respect to the chosen relational model.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No repeating groups or multi-valued fields are stored as a single cell.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Each row represents one tuple and each column represents one attribute domain.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1NF does not eliminate redundancy by itself.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2782D"/>
                </a:solidFill>
              </a:defRPr>
            </a:pPr>
            <a:r>
              <a:t>Not 1NF: PhoneNumbers = {9876…, 9123…} in one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32323"/>
                </a:solidFill>
              </a:defRPr>
            </a:pPr>
            <a:r>
              <a:rPr dirty="0"/>
              <a:t>1NF: store phone values as separate rows in a related relation, if multiple phone numbers are permitted.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Second Normal Form (2NF)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333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b="1" dirty="0"/>
              <a:t>A relation is in 2NF if it is in 1NF and every non-prime attribute is </a:t>
            </a:r>
            <a:r>
              <a:rPr b="1" u="sng" dirty="0"/>
              <a:t>fully</a:t>
            </a:r>
            <a:r>
              <a:rPr b="1" dirty="0"/>
              <a:t> functionally dependent on every candidate key.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Partial dependency occurs when a non-key attribute depends on only part of a composite candidate key.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2NF matters primarily when a candidate key has multiple attributes.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With a single-attribute key, a 1NF relation is automatically in 2NF.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892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D4B"/>
                </a:solidFill>
              </a:defRPr>
            </a:pPr>
            <a:r>
              <a:t>Enrollment(StudentID, CourseID, StudentName, CourseName, Grade)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406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D2782D"/>
                </a:solidFill>
              </a:defRPr>
            </a:pPr>
            <a:r>
              <a:rPr sz="2000" dirty="0"/>
              <a:t>Key = {</a:t>
            </a:r>
            <a:r>
              <a:rPr sz="2000" dirty="0" err="1"/>
              <a:t>StudentID</a:t>
            </a:r>
            <a:r>
              <a:rPr sz="2000" dirty="0"/>
              <a:t>, </a:t>
            </a:r>
            <a:r>
              <a:rPr sz="2000" dirty="0" err="1"/>
              <a:t>CourseID</a:t>
            </a:r>
            <a:r>
              <a:rPr sz="2000" dirty="0"/>
              <a:t>}; </a:t>
            </a:r>
            <a:r>
              <a:rPr sz="2000" dirty="0" err="1"/>
              <a:t>StudentID</a:t>
            </a:r>
            <a:r>
              <a:rPr sz="2000" dirty="0"/>
              <a:t> → </a:t>
            </a:r>
            <a:r>
              <a:rPr sz="2000" dirty="0" err="1"/>
              <a:t>StudentName</a:t>
            </a:r>
            <a:r>
              <a:rPr sz="2000" dirty="0"/>
              <a:t> and </a:t>
            </a:r>
            <a:r>
              <a:rPr sz="2000" dirty="0" err="1"/>
              <a:t>CourseID</a:t>
            </a:r>
            <a:r>
              <a:rPr sz="2000" dirty="0"/>
              <a:t> → </a:t>
            </a:r>
            <a:r>
              <a:rPr sz="2000" dirty="0" err="1"/>
              <a:t>CourseName</a:t>
            </a:r>
            <a:r>
              <a:rPr sz="2000" dirty="0"/>
              <a:t> are partial dependencies.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Converting the Example to 2NF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840892"/>
              </p:ext>
            </p:extLst>
          </p:nvPr>
        </p:nvGraphicFramePr>
        <p:xfrm>
          <a:off x="548640" y="123444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201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 dirty="0"/>
                        <a:t>Before</a:t>
                      </a:r>
                    </a:p>
                  </a:txBody>
                  <a:tcPr>
                    <a:solidFill>
                      <a:srgbClr val="182D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Problem</a:t>
                      </a:r>
                    </a:p>
                  </a:txBody>
                  <a:tcPr>
                    <a:solidFill>
                      <a:srgbClr val="182D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After</a:t>
                      </a:r>
                    </a:p>
                  </a:txBody>
                  <a:tcPr>
                    <a:solidFill>
                      <a:srgbClr val="182D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014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Enrollment(</a:t>
                      </a:r>
                      <a:r>
                        <a:rPr sz="2000" dirty="0" err="1"/>
                        <a:t>StudentID</a:t>
                      </a:r>
                      <a:r>
                        <a:rPr sz="2000" dirty="0"/>
                        <a:t>, </a:t>
                      </a:r>
                      <a:r>
                        <a:rPr sz="2000" dirty="0" err="1"/>
                        <a:t>CourseID</a:t>
                      </a:r>
                      <a:r>
                        <a:rPr sz="2000" dirty="0"/>
                        <a:t>, </a:t>
                      </a:r>
                      <a:r>
                        <a:rPr sz="2000" dirty="0" err="1"/>
                        <a:t>StudentName</a:t>
                      </a:r>
                      <a:r>
                        <a:rPr sz="2000" dirty="0"/>
                        <a:t>, </a:t>
                      </a:r>
                      <a:r>
                        <a:rPr sz="2000" dirty="0" err="1"/>
                        <a:t>CourseName</a:t>
                      </a:r>
                      <a:r>
                        <a:rPr sz="2000" dirty="0"/>
                        <a:t>, Grade)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 err="1"/>
                        <a:t>StudentName</a:t>
                      </a:r>
                      <a:r>
                        <a:rPr sz="2000" dirty="0"/>
                        <a:t> depends only on </a:t>
                      </a:r>
                      <a:r>
                        <a:rPr sz="2000" dirty="0" err="1"/>
                        <a:t>StudentID</a:t>
                      </a:r>
                      <a:r>
                        <a:rPr sz="2000" dirty="0"/>
                        <a:t>; </a:t>
                      </a:r>
                      <a:r>
                        <a:rPr sz="2000" dirty="0" err="1"/>
                        <a:t>CourseName</a:t>
                      </a:r>
                      <a:r>
                        <a:rPr sz="2000" dirty="0"/>
                        <a:t> only on </a:t>
                      </a:r>
                      <a:r>
                        <a:rPr sz="2000" dirty="0" err="1"/>
                        <a:t>CourseID</a:t>
                      </a:r>
                      <a:endParaRPr sz="2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Student(StudentID, StudentName)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014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endParaRPr sz="2000"/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endParaRPr sz="2000" dirty="0"/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Course(</a:t>
                      </a:r>
                      <a:r>
                        <a:rPr sz="2000" dirty="0" err="1"/>
                        <a:t>CourseID</a:t>
                      </a:r>
                      <a:r>
                        <a:rPr sz="2000" dirty="0"/>
                        <a:t>, </a:t>
                      </a:r>
                      <a:r>
                        <a:rPr sz="2000" dirty="0" err="1"/>
                        <a:t>CourseName</a:t>
                      </a:r>
                      <a:r>
                        <a:rPr sz="2000" dirty="0"/>
                        <a:t>, Instructor)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014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endParaRPr sz="20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endParaRPr sz="20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Enrollment(</a:t>
                      </a:r>
                      <a:r>
                        <a:rPr sz="2000" dirty="0" err="1"/>
                        <a:t>StudentID</a:t>
                      </a:r>
                      <a:r>
                        <a:rPr sz="2000" dirty="0"/>
                        <a:t>, </a:t>
                      </a:r>
                      <a:r>
                        <a:rPr sz="2000" dirty="0" err="1"/>
                        <a:t>CourseID</a:t>
                      </a:r>
                      <a:r>
                        <a:rPr sz="2000" dirty="0"/>
                        <a:t>, Grade)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806440"/>
            <a:ext cx="10789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C7858"/>
                </a:solidFill>
              </a:defRPr>
            </a:pPr>
            <a:r>
              <a:rPr sz="2400" dirty="0"/>
              <a:t>Each relation now stores facts that depend on its key rather than on only part of a composite key.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Third Normal Form (3NF)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2850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b="1" dirty="0"/>
              <a:t>A relation is in 3NF if it is in 2NF and has no problematic transitive dependency of a non-prime attribute on a key through another non-key attribute.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Formal test: for every non-trivial FD X → A, either X is a </a:t>
            </a:r>
            <a:r>
              <a:rPr dirty="0" err="1"/>
              <a:t>superkey</a:t>
            </a:r>
            <a:r>
              <a:rPr dirty="0"/>
              <a:t> or A is prime.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Classic pattern: Key → Non-key B → Non-key C.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3NF is often the practical target for OLTP relational schemas.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8006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82D4B"/>
                </a:solidFill>
              </a:defRPr>
            </a:pPr>
            <a:r>
              <a:rPr dirty="0"/>
              <a:t>Example: </a:t>
            </a:r>
            <a:r>
              <a:rPr dirty="0" err="1"/>
              <a:t>CourseID</a:t>
            </a:r>
            <a:r>
              <a:rPr dirty="0"/>
              <a:t> → </a:t>
            </a:r>
            <a:r>
              <a:rPr dirty="0" err="1"/>
              <a:t>InstructorID</a:t>
            </a:r>
            <a:r>
              <a:rPr dirty="0"/>
              <a:t> and </a:t>
            </a:r>
            <a:r>
              <a:rPr dirty="0" err="1"/>
              <a:t>InstructorID</a:t>
            </a:r>
            <a:r>
              <a:rPr dirty="0"/>
              <a:t> → InstructorName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10698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C7858"/>
                </a:solidFill>
              </a:defRPr>
            </a:pPr>
            <a:r>
              <a:rPr sz="2000" b="1" dirty="0"/>
              <a:t>Decompose into Course(</a:t>
            </a:r>
            <a:r>
              <a:rPr sz="2000" b="1" dirty="0" err="1"/>
              <a:t>CourseID</a:t>
            </a:r>
            <a:r>
              <a:rPr sz="2000" b="1" dirty="0"/>
              <a:t>, </a:t>
            </a:r>
            <a:r>
              <a:rPr sz="2000" b="1" dirty="0" err="1"/>
              <a:t>InstructorID</a:t>
            </a:r>
            <a:r>
              <a:rPr sz="2000" b="1" dirty="0"/>
              <a:t>) and Instructor(</a:t>
            </a:r>
            <a:r>
              <a:rPr sz="2000" b="1" dirty="0" err="1"/>
              <a:t>InstructorID</a:t>
            </a:r>
            <a:r>
              <a:rPr sz="2000" b="1" dirty="0"/>
              <a:t>, InstructorName).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Boyce–Codd Normal Form (BCNF)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297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BCNF is stricter than 3NF.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b="1" dirty="0"/>
              <a:t>For every non-trivial FD X → Y, X must be a </a:t>
            </a:r>
            <a:r>
              <a:rPr b="1" dirty="0" err="1"/>
              <a:t>superkey</a:t>
            </a:r>
            <a:r>
              <a:rPr b="1" dirty="0"/>
              <a:t>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Every determinant must therefore be a candidate key or contain one.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Some relations satisfy 3NF but not BCNF because a non-key determinant exists.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D2782D"/>
                </a:solidFill>
              </a:defRPr>
            </a:pPr>
            <a:r>
              <a:t>Rule of thumb: 3NF permits certain dependencies when the dependent attribute is prime; BCNF does not.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13723B3-A62D-E5C6-C970-FD40D7995D96}"/>
                  </a:ext>
                </a:extLst>
              </p:cNvPr>
              <p:cNvSpPr txBox="1"/>
              <p:nvPr/>
            </p:nvSpPr>
            <p:spPr>
              <a:xfrm>
                <a:off x="696686" y="237320"/>
                <a:ext cx="11266714" cy="61863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fontAlgn="t">
                  <a:lnSpc>
                    <a:spcPct val="200000"/>
                  </a:lnSpc>
                  <a:buNone/>
                </a:pPr>
                <a:r>
                  <a:rPr lang="en-IN" b="0" i="0" dirty="0">
                    <a:effectLst/>
                    <a:latin typeface="+mn-lt"/>
                  </a:rPr>
                  <a:t>For the relation:</a:t>
                </a:r>
              </a:p>
              <a:p>
                <a:pPr fontAlgn="t">
                  <a:lnSpc>
                    <a:spcPct val="200000"/>
                  </a:lnSpc>
                  <a:buNone/>
                </a:pPr>
                <a:r>
                  <a:rPr lang="en-IN" b="1" i="0" dirty="0">
                    <a:effectLst/>
                    <a:latin typeface="+mn-lt"/>
                  </a:rPr>
                  <a:t>R(</a:t>
                </a:r>
                <a:r>
                  <a:rPr lang="en-IN" b="1" i="0" dirty="0" err="1">
                    <a:effectLst/>
                    <a:latin typeface="+mn-lt"/>
                  </a:rPr>
                  <a:t>StudentID</a:t>
                </a:r>
                <a:r>
                  <a:rPr lang="en-IN" b="1" i="0" dirty="0">
                    <a:effectLst/>
                    <a:latin typeface="+mn-lt"/>
                  </a:rPr>
                  <a:t>, </a:t>
                </a:r>
                <a:r>
                  <a:rPr lang="en-IN" b="1" i="0" dirty="0" err="1">
                    <a:effectLst/>
                    <a:latin typeface="+mn-lt"/>
                  </a:rPr>
                  <a:t>StudentName</a:t>
                </a:r>
                <a:r>
                  <a:rPr lang="en-IN" b="1" i="0" dirty="0">
                    <a:effectLst/>
                    <a:latin typeface="+mn-lt"/>
                  </a:rPr>
                  <a:t>, </a:t>
                </a:r>
                <a:r>
                  <a:rPr lang="en-IN" b="1" i="0" dirty="0" err="1">
                    <a:effectLst/>
                    <a:latin typeface="+mn-lt"/>
                  </a:rPr>
                  <a:t>CourseID</a:t>
                </a:r>
                <a:r>
                  <a:rPr lang="en-IN" b="1" i="0" dirty="0">
                    <a:effectLst/>
                    <a:latin typeface="+mn-lt"/>
                  </a:rPr>
                  <a:t>, </a:t>
                </a:r>
                <a:r>
                  <a:rPr lang="en-IN" b="1" i="0" dirty="0" err="1">
                    <a:effectLst/>
                    <a:latin typeface="+mn-lt"/>
                  </a:rPr>
                  <a:t>CourseName</a:t>
                </a:r>
                <a:r>
                  <a:rPr lang="en-IN" b="1" i="0" dirty="0">
                    <a:effectLst/>
                    <a:latin typeface="+mn-lt"/>
                  </a:rPr>
                  <a:t>, Instructor, Grade)</a:t>
                </a:r>
                <a:endParaRPr lang="en-IN" b="0" i="0" dirty="0">
                  <a:effectLst/>
                  <a:latin typeface="+mn-lt"/>
                </a:endParaRPr>
              </a:p>
              <a:p>
                <a:pPr fontAlgn="t">
                  <a:lnSpc>
                    <a:spcPct val="200000"/>
                  </a:lnSpc>
                  <a:buNone/>
                </a:pPr>
                <a:r>
                  <a:rPr lang="en-IN" b="0" i="0" dirty="0">
                    <a:effectLst/>
                    <a:latin typeface="+mn-lt"/>
                  </a:rPr>
                  <a:t>Assume the following functional dependencies (FDs):</a:t>
                </a:r>
              </a:p>
              <a:p>
                <a:pPr marL="342900" lvl="0" indent="-342900" fontAlgn="t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en-IN" b="1" i="0" dirty="0" err="1">
                    <a:effectLst/>
                    <a:latin typeface="+mn-lt"/>
                  </a:rPr>
                  <a:t>StudentID</a:t>
                </a:r>
                <a:r>
                  <a:rPr lang="en-IN" b="1" i="0" dirty="0">
                    <a:effectLst/>
                    <a:latin typeface="+mn-lt"/>
                  </a:rPr>
                  <a:t> → </a:t>
                </a:r>
                <a:r>
                  <a:rPr lang="en-IN" b="1" i="0" dirty="0" err="1">
                    <a:effectLst/>
                    <a:latin typeface="+mn-lt"/>
                  </a:rPr>
                  <a:t>StudentName</a:t>
                </a:r>
                <a:endParaRPr lang="en-IN" b="0" i="0" dirty="0">
                  <a:effectLst/>
                  <a:latin typeface="+mn-lt"/>
                </a:endParaRPr>
              </a:p>
              <a:p>
                <a:pPr marL="342900" lvl="0" indent="-342900" fontAlgn="t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en-IN" b="1" i="0" dirty="0" err="1">
                    <a:effectLst/>
                    <a:latin typeface="+mn-lt"/>
                  </a:rPr>
                  <a:t>CourseID</a:t>
                </a:r>
                <a:r>
                  <a:rPr lang="en-IN" b="1" i="0" dirty="0">
                    <a:effectLst/>
                    <a:latin typeface="+mn-lt"/>
                  </a:rPr>
                  <a:t> → </a:t>
                </a:r>
                <a:r>
                  <a:rPr lang="en-IN" b="1" i="0" dirty="0" err="1">
                    <a:effectLst/>
                    <a:latin typeface="+mn-lt"/>
                  </a:rPr>
                  <a:t>CourseName</a:t>
                </a:r>
                <a:r>
                  <a:rPr lang="en-IN" b="1" i="0" dirty="0">
                    <a:effectLst/>
                    <a:latin typeface="+mn-lt"/>
                  </a:rPr>
                  <a:t>, Instructor</a:t>
                </a:r>
                <a:endParaRPr lang="en-IN" b="0" i="0" dirty="0">
                  <a:effectLst/>
                  <a:latin typeface="+mn-lt"/>
                </a:endParaRPr>
              </a:p>
              <a:p>
                <a:pPr marL="342900" lvl="0" indent="-342900" fontAlgn="t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en-IN" b="1" i="0" dirty="0">
                    <a:effectLst/>
                    <a:latin typeface="+mn-lt"/>
                  </a:rPr>
                  <a:t>(</a:t>
                </a:r>
                <a:r>
                  <a:rPr lang="en-IN" b="1" i="0" dirty="0" err="1">
                    <a:effectLst/>
                    <a:latin typeface="+mn-lt"/>
                  </a:rPr>
                  <a:t>StudentID</a:t>
                </a:r>
                <a:r>
                  <a:rPr lang="en-IN" b="1" i="0" dirty="0">
                    <a:effectLst/>
                    <a:latin typeface="+mn-lt"/>
                  </a:rPr>
                  <a:t>, </a:t>
                </a:r>
                <a:r>
                  <a:rPr lang="en-IN" b="1" i="0" dirty="0" err="1">
                    <a:effectLst/>
                    <a:latin typeface="+mn-lt"/>
                  </a:rPr>
                  <a:t>CourseID</a:t>
                </a:r>
                <a:r>
                  <a:rPr lang="en-IN" b="1" i="0" dirty="0">
                    <a:effectLst/>
                    <a:latin typeface="+mn-lt"/>
                  </a:rPr>
                  <a:t>) → Grade</a:t>
                </a:r>
                <a:endParaRPr lang="en-IN" b="0" i="0" dirty="0">
                  <a:effectLst/>
                  <a:latin typeface="+mn-lt"/>
                </a:endParaRPr>
              </a:p>
              <a:p>
                <a:pPr fontAlgn="t">
                  <a:lnSpc>
                    <a:spcPct val="200000"/>
                  </a:lnSpc>
                  <a:buNone/>
                </a:pPr>
                <a:r>
                  <a:rPr lang="en-IN" b="1" i="0" dirty="0">
                    <a:effectLst/>
                    <a:latin typeface="+mn-lt"/>
                  </a:rPr>
                  <a:t>Step 1: Find the Candidate Key</a:t>
                </a:r>
              </a:p>
              <a:p>
                <a:pPr fontAlgn="t">
                  <a:lnSpc>
                    <a:spcPct val="200000"/>
                  </a:lnSpc>
                  <a:buNone/>
                </a:pPr>
                <a:r>
                  <a:rPr lang="en-IN" b="0" i="0" dirty="0">
                    <a:effectLst/>
                    <a:latin typeface="+mn-lt"/>
                  </a:rPr>
                  <a:t>To uniquely identify a record (a student's grade in a course), we need:</a:t>
                </a:r>
              </a:p>
              <a:p>
                <a:pPr fontAlgn="t">
                  <a:lnSpc>
                    <a:spcPct val="200000"/>
                  </a:lnSpc>
                  <a:buNone/>
                </a:pPr>
                <a:r>
                  <a:rPr lang="en-IN" b="1" i="0" dirty="0">
                    <a:effectLst/>
                    <a:latin typeface="+mn-lt"/>
                  </a:rPr>
                  <a:t>(</a:t>
                </a:r>
                <a:r>
                  <a:rPr lang="en-IN" b="1" i="0" dirty="0" err="1">
                    <a:effectLst/>
                    <a:latin typeface="+mn-lt"/>
                  </a:rPr>
                  <a:t>StudentID</a:t>
                </a:r>
                <a:r>
                  <a:rPr lang="en-IN" b="1" i="0" dirty="0">
                    <a:effectLst/>
                    <a:latin typeface="+mn-lt"/>
                  </a:rPr>
                  <a:t>, </a:t>
                </a:r>
                <a:r>
                  <a:rPr lang="en-IN" b="1" i="0" dirty="0" err="1">
                    <a:effectLst/>
                    <a:latin typeface="+mn-lt"/>
                  </a:rPr>
                  <a:t>CourseID</a:t>
                </a:r>
                <a:r>
                  <a:rPr lang="en-IN" b="1" i="0" dirty="0">
                    <a:effectLst/>
                    <a:latin typeface="+mn-lt"/>
                  </a:rPr>
                  <a:t>)</a:t>
                </a:r>
                <a:endParaRPr lang="en-IN" b="0" i="0" dirty="0">
                  <a:effectLst/>
                  <a:latin typeface="+mn-lt"/>
                </a:endParaRPr>
              </a:p>
              <a:p>
                <a:pPr fontAlgn="t">
                  <a:lnSpc>
                    <a:spcPct val="200000"/>
                  </a:lnSpc>
                  <a:buNone/>
                </a:pPr>
                <a:r>
                  <a:rPr lang="en-IN" b="0" i="0" dirty="0">
                    <a:effectLst/>
                    <a:latin typeface="+mn-lt"/>
                  </a:rPr>
                  <a:t>So, the candidate key is:</a:t>
                </a:r>
              </a:p>
              <a:p>
                <a:pPr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𝑡𝑢𝑑𝑒𝑛𝑡𝐼𝐷𝐶𝑜𝑢𝑟𝑠𝑒𝐼𝐷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13723B3-A62D-E5C6-C970-FD40D7995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686" y="237320"/>
                <a:ext cx="11266714" cy="6186309"/>
              </a:xfrm>
              <a:prstGeom prst="rect">
                <a:avLst/>
              </a:prstGeom>
              <a:blipFill>
                <a:blip r:embed="rId2"/>
                <a:stretch>
                  <a:fillRect l="-4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9046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3BD06-0071-8F33-0F68-937C73325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034518E-489B-0386-9FBF-2BBBA8DB616A}"/>
                  </a:ext>
                </a:extLst>
              </p:cNvPr>
              <p:cNvSpPr txBox="1"/>
              <p:nvPr/>
            </p:nvSpPr>
            <p:spPr>
              <a:xfrm>
                <a:off x="696686" y="-1341109"/>
                <a:ext cx="11266714" cy="42165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fontAlgn="t">
                  <a:lnSpc>
                    <a:spcPct val="200000"/>
                  </a:lnSpc>
                  <a:buNone/>
                </a:pPr>
                <a:endParaRPr lang="en-IN" dirty="0"/>
              </a:p>
              <a:p>
                <a:pPr fontAlgn="t">
                  <a:lnSpc>
                    <a:spcPct val="200000"/>
                  </a:lnSpc>
                  <a:buNone/>
                </a:pPr>
                <a:br>
                  <a:rPr lang="en-IN" sz="1800" b="0" i="0" dirty="0">
                    <a:effectLst/>
                    <a:latin typeface="+mn-lt"/>
                  </a:rPr>
                </a:br>
                <a:endParaRPr lang="en-IN" sz="1800" b="0" i="0" dirty="0">
                  <a:effectLst/>
                  <a:latin typeface="+mn-lt"/>
                </a:endParaRPr>
              </a:p>
              <a:p>
                <a:pPr fontAlgn="t">
                  <a:lnSpc>
                    <a:spcPct val="200000"/>
                  </a:lnSpc>
                  <a:buNone/>
                </a:pPr>
                <a:r>
                  <a:rPr lang="en-IN" sz="2000" b="1" i="0" dirty="0">
                    <a:effectLst/>
                    <a:latin typeface="+mn-lt"/>
                  </a:rPr>
                  <a:t>Step 2: Check BCNF Condition</a:t>
                </a:r>
              </a:p>
              <a:p>
                <a:pPr fontAlgn="t">
                  <a:lnSpc>
                    <a:spcPct val="200000"/>
                  </a:lnSpc>
                  <a:buNone/>
                </a:pPr>
                <a:r>
                  <a:rPr lang="en-IN" sz="2000" b="0" i="0" dirty="0">
                    <a:effectLst/>
                    <a:latin typeface="+mn-lt"/>
                  </a:rPr>
                  <a:t>A relation is in </a:t>
                </a:r>
                <a:r>
                  <a:rPr lang="en-IN" sz="2000" b="1" i="0" dirty="0">
                    <a:effectLst/>
                    <a:latin typeface="+mn-lt"/>
                  </a:rPr>
                  <a:t>BCNF</a:t>
                </a:r>
                <a:r>
                  <a:rPr lang="en-IN" sz="2000" b="0" i="0" dirty="0">
                    <a:effectLst/>
                    <a:latin typeface="+mn-lt"/>
                  </a:rPr>
                  <a:t> if for every non-trivial FD:</a:t>
                </a:r>
              </a:p>
              <a:p>
                <a:pPr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sz="20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IN" sz="2000" i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IN" sz="2000" i="1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IN" sz="2000" dirty="0"/>
              </a:p>
              <a:p>
                <a:pPr fontAlgn="t">
                  <a:lnSpc>
                    <a:spcPct val="200000"/>
                  </a:lnSpc>
                  <a:buNone/>
                </a:pPr>
                <a:r>
                  <a:rPr lang="en-IN" sz="2000" b="0" i="0" dirty="0">
                    <a:effectLst/>
                    <a:latin typeface="+mn-lt"/>
                  </a:rPr>
                  <a:t>the determinant </a:t>
                </a:r>
                <a:r>
                  <a:rPr lang="en-IN" sz="2000" b="1" i="0" dirty="0">
                    <a:effectLst/>
                    <a:latin typeface="+mn-lt"/>
                  </a:rPr>
                  <a:t>X</a:t>
                </a:r>
                <a:r>
                  <a:rPr lang="en-IN" sz="2000" b="0" i="0" dirty="0">
                    <a:effectLst/>
                    <a:latin typeface="+mn-lt"/>
                  </a:rPr>
                  <a:t> must be a </a:t>
                </a:r>
                <a:r>
                  <a:rPr lang="en-IN" sz="2000" b="0" i="0" dirty="0" err="1">
                    <a:effectLst/>
                    <a:latin typeface="+mn-lt"/>
                  </a:rPr>
                  <a:t>superkey</a:t>
                </a:r>
                <a:r>
                  <a:rPr lang="en-IN" sz="2000" b="0" i="0" dirty="0">
                    <a:effectLst/>
                    <a:latin typeface="+mn-lt"/>
                  </a:rPr>
                  <a:t>.</a:t>
                </a:r>
                <a:endParaRPr lang="en-IN" sz="2000" b="0" i="0" dirty="0">
                  <a:effectLst/>
                  <a:latin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034518E-489B-0386-9FBF-2BBBA8DB6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686" y="-1341109"/>
                <a:ext cx="11266714" cy="4216539"/>
              </a:xfrm>
              <a:prstGeom prst="rect">
                <a:avLst/>
              </a:prstGeom>
              <a:blipFill>
                <a:blip r:embed="rId2"/>
                <a:stretch>
                  <a:fillRect l="-541" b="-1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EC8C798-D8EA-1B3E-B9D4-DA9219E5E5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959347"/>
              </p:ext>
            </p:extLst>
          </p:nvPr>
        </p:nvGraphicFramePr>
        <p:xfrm>
          <a:off x="756557" y="3429000"/>
          <a:ext cx="10678885" cy="20970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93771">
                  <a:extLst>
                    <a:ext uri="{9D8B030D-6E8A-4147-A177-3AD203B41FA5}">
                      <a16:colId xmlns:a16="http://schemas.microsoft.com/office/drawing/2014/main" val="40564183"/>
                    </a:ext>
                  </a:extLst>
                </a:gridCol>
                <a:gridCol w="3603172">
                  <a:extLst>
                    <a:ext uri="{9D8B030D-6E8A-4147-A177-3AD203B41FA5}">
                      <a16:colId xmlns:a16="http://schemas.microsoft.com/office/drawing/2014/main" val="1924695025"/>
                    </a:ext>
                  </a:extLst>
                </a:gridCol>
                <a:gridCol w="2481942">
                  <a:extLst>
                    <a:ext uri="{9D8B030D-6E8A-4147-A177-3AD203B41FA5}">
                      <a16:colId xmlns:a16="http://schemas.microsoft.com/office/drawing/2014/main" val="27955659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19048"/>
                        </a:lnSpc>
                        <a:buNone/>
                      </a:pPr>
                      <a:r>
                        <a:rPr lang="en-IN" sz="2000">
                          <a:effectLst/>
                        </a:rPr>
                        <a:t>Let's examine the FDs:</a:t>
                      </a:r>
                      <a:endParaRPr lang="en-IN" sz="2000" b="0" i="0"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200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200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8383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FD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Is Left Side a Superkey?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BCNF Violation?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144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StudentID → StudentName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3444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CourseID → CourseName, Instructor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21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(StudentID, CourseID) → Grade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19048"/>
                        </a:lnSpc>
                        <a:buNone/>
                      </a:pPr>
                      <a:r>
                        <a:rPr lang="en-IN" sz="2000" dirty="0">
                          <a:effectLst/>
                        </a:rPr>
                        <a:t>No</a:t>
                      </a:r>
                      <a:endParaRPr lang="en-IN" sz="20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1241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52580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C3D7BC9-AEDA-142E-51EC-2423D28FD71F}"/>
                  </a:ext>
                </a:extLst>
              </p:cNvPr>
              <p:cNvSpPr txBox="1"/>
              <p:nvPr/>
            </p:nvSpPr>
            <p:spPr>
              <a:xfrm>
                <a:off x="925285" y="355754"/>
                <a:ext cx="10929258" cy="70173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fontAlgn="t">
                  <a:lnSpc>
                    <a:spcPct val="100000"/>
                  </a:lnSpc>
                  <a:buNone/>
                </a:pPr>
                <a:r>
                  <a:rPr lang="en-IN" sz="1800" b="1" i="0" dirty="0">
                    <a:effectLst/>
                    <a:latin typeface="+mn-lt"/>
                  </a:rPr>
                  <a:t>Step 3: Decompose into BCNF Relations</a:t>
                </a:r>
              </a:p>
              <a:p>
                <a:pPr fontAlgn="t">
                  <a:lnSpc>
                    <a:spcPct val="100000"/>
                  </a:lnSpc>
                  <a:buNone/>
                </a:pPr>
                <a:r>
                  <a:rPr lang="en-IN" sz="1800" b="1" i="0" dirty="0">
                    <a:effectLst/>
                    <a:latin typeface="+mn-lt"/>
                  </a:rPr>
                  <a:t>Relation 1: Students</a:t>
                </a:r>
              </a:p>
              <a:p>
                <a:pPr fontAlgn="t">
                  <a:lnSpc>
                    <a:spcPct val="100000"/>
                  </a:lnSpc>
                  <a:buNone/>
                </a:pPr>
                <a:r>
                  <a:rPr lang="en-IN" sz="1800" b="1" i="0" dirty="0">
                    <a:effectLst/>
                    <a:latin typeface="+mn-lt"/>
                  </a:rPr>
                  <a:t>STUDENT(</a:t>
                </a:r>
                <a:r>
                  <a:rPr lang="en-IN" sz="1800" b="1" i="0" dirty="0" err="1">
                    <a:effectLst/>
                    <a:latin typeface="+mn-lt"/>
                  </a:rPr>
                  <a:t>StudentID</a:t>
                </a:r>
                <a:r>
                  <a:rPr lang="en-IN" sz="1800" b="1" i="0" dirty="0">
                    <a:effectLst/>
                    <a:latin typeface="+mn-lt"/>
                  </a:rPr>
                  <a:t>, </a:t>
                </a:r>
                <a:r>
                  <a:rPr lang="en-IN" sz="1800" b="1" i="0" dirty="0" err="1">
                    <a:effectLst/>
                    <a:latin typeface="+mn-lt"/>
                  </a:rPr>
                  <a:t>StudentName</a:t>
                </a:r>
                <a:r>
                  <a:rPr lang="en-IN" sz="1800" b="1" i="0" dirty="0">
                    <a:effectLst/>
                    <a:latin typeface="+mn-lt"/>
                  </a:rPr>
                  <a:t>)</a:t>
                </a:r>
                <a:endParaRPr lang="en-IN" sz="1800" b="0" i="0" dirty="0">
                  <a:effectLst/>
                  <a:latin typeface="+mn-lt"/>
                </a:endParaRPr>
              </a:p>
              <a:p>
                <a:pPr fontAlgn="t">
                  <a:lnSpc>
                    <a:spcPct val="100000"/>
                  </a:lnSpc>
                  <a:buNone/>
                </a:pPr>
                <a:r>
                  <a:rPr lang="en-IN" sz="1800" b="0" i="0" dirty="0">
                    <a:effectLst/>
                    <a:latin typeface="+mn-lt"/>
                  </a:rPr>
                  <a:t>FD: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𝑆𝑡𝑢𝑑𝑒𝑛𝑡𝐼𝐷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𝑆𝑡𝑢𝑑𝑒𝑛𝑡𝑁𝑎𝑚𝑒</m:t>
                      </m:r>
                    </m:oMath>
                  </m:oMathPara>
                </a14:m>
                <a:endParaRPr lang="en-IN" dirty="0"/>
              </a:p>
              <a:p>
                <a:pPr marL="342900" lvl="0" indent="-342900" fontAlgn="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IN" sz="1800" b="0" i="0" dirty="0" err="1">
                    <a:effectLst/>
                    <a:latin typeface="+mn-lt"/>
                  </a:rPr>
                  <a:t>StudentID</a:t>
                </a:r>
                <a:r>
                  <a:rPr lang="en-IN" sz="1800" b="0" i="0" dirty="0">
                    <a:effectLst/>
                    <a:latin typeface="+mn-lt"/>
                  </a:rPr>
                  <a:t> is the key.</a:t>
                </a:r>
              </a:p>
              <a:p>
                <a:pPr marL="342900" lvl="0" indent="-342900" fontAlgn="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IN" sz="1800" b="0" i="0" dirty="0">
                    <a:effectLst/>
                    <a:latin typeface="+mn-lt"/>
                  </a:rPr>
                  <a:t>Therefore, BCNF satisfied.</a:t>
                </a:r>
              </a:p>
              <a:p>
                <a:pPr fontAlgn="t">
                  <a:lnSpc>
                    <a:spcPct val="100000"/>
                  </a:lnSpc>
                  <a:buNone/>
                </a:pPr>
                <a:br>
                  <a:rPr lang="en-IN" sz="1800" b="0" i="0" dirty="0">
                    <a:effectLst/>
                    <a:latin typeface="+mn-lt"/>
                  </a:rPr>
                </a:br>
                <a:endParaRPr lang="en-IN" sz="1800" b="0" i="0" dirty="0">
                  <a:effectLst/>
                  <a:latin typeface="+mn-lt"/>
                </a:endParaRPr>
              </a:p>
              <a:p>
                <a:pPr fontAlgn="t">
                  <a:lnSpc>
                    <a:spcPct val="100000"/>
                  </a:lnSpc>
                  <a:buNone/>
                </a:pPr>
                <a:r>
                  <a:rPr lang="en-IN" sz="1800" b="1" i="0" dirty="0">
                    <a:effectLst/>
                    <a:latin typeface="+mn-lt"/>
                  </a:rPr>
                  <a:t>Relation 2: Courses</a:t>
                </a:r>
              </a:p>
              <a:p>
                <a:pPr fontAlgn="t">
                  <a:lnSpc>
                    <a:spcPct val="100000"/>
                  </a:lnSpc>
                  <a:buNone/>
                </a:pPr>
                <a:r>
                  <a:rPr lang="en-IN" sz="1800" b="1" i="0" dirty="0">
                    <a:effectLst/>
                    <a:latin typeface="+mn-lt"/>
                  </a:rPr>
                  <a:t>COURSE(</a:t>
                </a:r>
                <a:r>
                  <a:rPr lang="en-IN" sz="1800" b="1" i="0" dirty="0" err="1">
                    <a:effectLst/>
                    <a:latin typeface="+mn-lt"/>
                  </a:rPr>
                  <a:t>CourseID</a:t>
                </a:r>
                <a:r>
                  <a:rPr lang="en-IN" sz="1800" b="1" i="0" dirty="0">
                    <a:effectLst/>
                    <a:latin typeface="+mn-lt"/>
                  </a:rPr>
                  <a:t>, </a:t>
                </a:r>
                <a:r>
                  <a:rPr lang="en-IN" sz="1800" b="1" i="0" dirty="0" err="1">
                    <a:effectLst/>
                    <a:latin typeface="+mn-lt"/>
                  </a:rPr>
                  <a:t>CourseName</a:t>
                </a:r>
                <a:r>
                  <a:rPr lang="en-IN" sz="1800" b="1" i="0" dirty="0">
                    <a:effectLst/>
                    <a:latin typeface="+mn-lt"/>
                  </a:rPr>
                  <a:t>, Instructor)</a:t>
                </a:r>
                <a:endParaRPr lang="en-IN" sz="1800" b="0" i="0" dirty="0">
                  <a:effectLst/>
                  <a:latin typeface="+mn-lt"/>
                </a:endParaRPr>
              </a:p>
              <a:p>
                <a:pPr fontAlgn="t">
                  <a:lnSpc>
                    <a:spcPct val="100000"/>
                  </a:lnSpc>
                  <a:buNone/>
                </a:pPr>
                <a:r>
                  <a:rPr lang="en-IN" sz="1800" b="0" i="0" dirty="0">
                    <a:effectLst/>
                    <a:latin typeface="+mn-lt"/>
                  </a:rPr>
                  <a:t>FD: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𝐶𝑜𝑢𝑟𝑠𝑒𝐼𝐷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𝐶𝑜𝑢𝑟𝑠𝑒𝑁𝑎𝑚𝑒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𝐼𝑛𝑠𝑡𝑟𝑢𝑐𝑡𝑜𝑟</m:t>
                      </m:r>
                    </m:oMath>
                  </m:oMathPara>
                </a14:m>
                <a:endParaRPr lang="en-IN" dirty="0"/>
              </a:p>
              <a:p>
                <a:pPr marL="342900" lvl="0" indent="-342900" fontAlgn="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IN" sz="1800" b="0" i="0" dirty="0" err="1">
                    <a:effectLst/>
                    <a:latin typeface="+mn-lt"/>
                  </a:rPr>
                  <a:t>CourseID</a:t>
                </a:r>
                <a:r>
                  <a:rPr lang="en-IN" sz="1800" b="0" i="0" dirty="0">
                    <a:effectLst/>
                    <a:latin typeface="+mn-lt"/>
                  </a:rPr>
                  <a:t> is the key.</a:t>
                </a:r>
              </a:p>
              <a:p>
                <a:pPr marL="342900" lvl="0" indent="-342900" fontAlgn="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IN" sz="1800" b="0" i="0" dirty="0">
                    <a:effectLst/>
                    <a:latin typeface="+mn-lt"/>
                  </a:rPr>
                  <a:t>Therefore, BCNF satisfied.</a:t>
                </a:r>
              </a:p>
              <a:p>
                <a:pPr fontAlgn="t">
                  <a:lnSpc>
                    <a:spcPct val="100000"/>
                  </a:lnSpc>
                  <a:buNone/>
                </a:pPr>
                <a:br>
                  <a:rPr lang="en-IN" sz="1800" b="0" i="0" dirty="0">
                    <a:effectLst/>
                    <a:latin typeface="+mn-lt"/>
                  </a:rPr>
                </a:br>
                <a:endParaRPr lang="en-IN" sz="1800" b="0" i="0" dirty="0">
                  <a:effectLst/>
                  <a:latin typeface="+mn-lt"/>
                </a:endParaRPr>
              </a:p>
              <a:p>
                <a:pPr fontAlgn="t">
                  <a:lnSpc>
                    <a:spcPct val="100000"/>
                  </a:lnSpc>
                  <a:buNone/>
                </a:pPr>
                <a:r>
                  <a:rPr lang="en-IN" sz="1800" b="1" i="0" dirty="0">
                    <a:effectLst/>
                    <a:latin typeface="+mn-lt"/>
                  </a:rPr>
                  <a:t>Relation 3: </a:t>
                </a:r>
                <a:r>
                  <a:rPr lang="en-IN" sz="1800" b="1" i="0" dirty="0" err="1">
                    <a:effectLst/>
                    <a:latin typeface="+mn-lt"/>
                  </a:rPr>
                  <a:t>Enrollments</a:t>
                </a:r>
                <a:endParaRPr lang="en-IN" sz="1800" b="1" i="0" dirty="0">
                  <a:effectLst/>
                  <a:latin typeface="+mn-lt"/>
                </a:endParaRPr>
              </a:p>
              <a:p>
                <a:pPr fontAlgn="t">
                  <a:lnSpc>
                    <a:spcPct val="100000"/>
                  </a:lnSpc>
                  <a:buNone/>
                </a:pPr>
                <a:r>
                  <a:rPr lang="en-IN" sz="1800" b="1" i="0" dirty="0">
                    <a:effectLst/>
                    <a:latin typeface="+mn-lt"/>
                  </a:rPr>
                  <a:t>ENROLLMENT(</a:t>
                </a:r>
                <a:r>
                  <a:rPr lang="en-IN" sz="1800" b="1" i="0" dirty="0" err="1">
                    <a:effectLst/>
                    <a:latin typeface="+mn-lt"/>
                  </a:rPr>
                  <a:t>StudentID</a:t>
                </a:r>
                <a:r>
                  <a:rPr lang="en-IN" sz="1800" b="1" i="0" dirty="0">
                    <a:effectLst/>
                    <a:latin typeface="+mn-lt"/>
                  </a:rPr>
                  <a:t>, </a:t>
                </a:r>
                <a:r>
                  <a:rPr lang="en-IN" sz="1800" b="1" i="0" dirty="0" err="1">
                    <a:effectLst/>
                    <a:latin typeface="+mn-lt"/>
                  </a:rPr>
                  <a:t>CourseID</a:t>
                </a:r>
                <a:r>
                  <a:rPr lang="en-IN" sz="1800" b="1" i="0" dirty="0">
                    <a:effectLst/>
                    <a:latin typeface="+mn-lt"/>
                  </a:rPr>
                  <a:t>, Grade)</a:t>
                </a:r>
                <a:endParaRPr lang="en-IN" sz="1800" b="0" i="0" dirty="0">
                  <a:effectLst/>
                  <a:latin typeface="+mn-lt"/>
                </a:endParaRPr>
              </a:p>
              <a:p>
                <a:pPr fontAlgn="t">
                  <a:lnSpc>
                    <a:spcPct val="100000"/>
                  </a:lnSpc>
                  <a:buNone/>
                </a:pPr>
                <a:r>
                  <a:rPr lang="en-IN" sz="1800" b="0" i="0" dirty="0">
                    <a:effectLst/>
                    <a:latin typeface="+mn-lt"/>
                  </a:rPr>
                  <a:t>FD: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sepChr m:val=",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𝑡𝑢𝑑𝑒𝑛𝑡𝐼𝐷𝐶𝑜𝑢𝑟𝑠𝑒𝐼𝐷</m:t>
                          </m:r>
                        </m:e>
                      </m:d>
                      <m:r>
                        <a:rPr lang="en-IN" i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𝐺𝑟𝑎𝑑𝑒</m:t>
                      </m:r>
                    </m:oMath>
                  </m:oMathPara>
                </a14:m>
                <a:endParaRPr lang="en-IN" dirty="0"/>
              </a:p>
              <a:p>
                <a:pPr marL="342900" lvl="0" indent="-342900" fontAlgn="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IN" sz="1800" b="0" i="0" dirty="0">
                    <a:effectLst/>
                    <a:latin typeface="+mn-lt"/>
                  </a:rPr>
                  <a:t>(</a:t>
                </a:r>
                <a:r>
                  <a:rPr lang="en-IN" sz="1800" b="0" i="0" dirty="0" err="1">
                    <a:effectLst/>
                    <a:latin typeface="+mn-lt"/>
                  </a:rPr>
                  <a:t>StudentID</a:t>
                </a:r>
                <a:r>
                  <a:rPr lang="en-IN" sz="1800" b="0" i="0" dirty="0">
                    <a:effectLst/>
                    <a:latin typeface="+mn-lt"/>
                  </a:rPr>
                  <a:t>, </a:t>
                </a:r>
                <a:r>
                  <a:rPr lang="en-IN" sz="1800" b="0" i="0" dirty="0" err="1">
                    <a:effectLst/>
                    <a:latin typeface="+mn-lt"/>
                  </a:rPr>
                  <a:t>CourseID</a:t>
                </a:r>
                <a:r>
                  <a:rPr lang="en-IN" sz="1800" b="0" i="0" dirty="0">
                    <a:effectLst/>
                    <a:latin typeface="+mn-lt"/>
                  </a:rPr>
                  <a:t>) is the key.</a:t>
                </a:r>
              </a:p>
              <a:p>
                <a:pPr marL="342900" lvl="0" indent="-342900" fontAlgn="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IN" sz="1800" b="0" i="0" dirty="0">
                    <a:effectLst/>
                    <a:latin typeface="+mn-lt"/>
                  </a:rPr>
                  <a:t>Therefore, BCNF satisfied.</a:t>
                </a:r>
              </a:p>
              <a:p>
                <a:pPr fontAlgn="t">
                  <a:lnSpc>
                    <a:spcPct val="100000"/>
                  </a:lnSpc>
                  <a:buNone/>
                </a:pPr>
                <a:br>
                  <a:rPr lang="en-IN" sz="1800" b="0" i="0" dirty="0">
                    <a:effectLst/>
                    <a:latin typeface="+mn-lt"/>
                  </a:rPr>
                </a:br>
                <a:endParaRPr lang="en-IN" sz="1800" b="0" i="0" dirty="0">
                  <a:effectLst/>
                  <a:latin typeface="+mn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C3D7BC9-AEDA-142E-51EC-2423D28FD7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285" y="355754"/>
                <a:ext cx="10929258" cy="7017306"/>
              </a:xfrm>
              <a:prstGeom prst="rect">
                <a:avLst/>
              </a:prstGeom>
              <a:blipFill>
                <a:blip r:embed="rId2"/>
                <a:stretch>
                  <a:fillRect l="-502" t="-3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445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6341B-E08B-243F-D769-08EAEC6E1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BA6DB6-FDEA-2CF0-8963-E0F64B58FCF6}"/>
              </a:ext>
            </a:extLst>
          </p:cNvPr>
          <p:cNvSpPr txBox="1"/>
          <p:nvPr/>
        </p:nvSpPr>
        <p:spPr>
          <a:xfrm>
            <a:off x="729343" y="1324582"/>
            <a:ext cx="1087482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br>
              <a:rPr lang="en-IN" sz="2400" b="0" i="0" dirty="0">
                <a:effectLst/>
                <a:latin typeface="+mn-lt"/>
              </a:rPr>
            </a:br>
            <a:endParaRPr lang="en-IN" sz="2400" b="0" i="0" dirty="0">
              <a:effectLst/>
              <a:latin typeface="+mn-lt"/>
            </a:endParaRPr>
          </a:p>
          <a:p>
            <a:pPr fontAlgn="t">
              <a:lnSpc>
                <a:spcPct val="100000"/>
              </a:lnSpc>
              <a:buNone/>
            </a:pPr>
            <a:r>
              <a:rPr lang="en-IN" sz="2400" b="1" i="0" dirty="0">
                <a:effectLst/>
                <a:latin typeface="+mn-lt"/>
              </a:rPr>
              <a:t>Final BCNF Decomposition</a:t>
            </a:r>
          </a:p>
          <a:p>
            <a:pPr fontAlgn="t">
              <a:lnSpc>
                <a:spcPct val="100000"/>
              </a:lnSpc>
              <a:buNone/>
            </a:pPr>
            <a:endParaRPr lang="en-IN" sz="2400" b="0" i="0" dirty="0">
              <a:effectLst/>
              <a:latin typeface="+mn-lt"/>
            </a:endParaRPr>
          </a:p>
          <a:p>
            <a:pPr fontAlgn="t">
              <a:lnSpc>
                <a:spcPct val="100000"/>
              </a:lnSpc>
              <a:buNone/>
            </a:pPr>
            <a:r>
              <a:rPr lang="en-IN" sz="2400" b="0" i="0" dirty="0">
                <a:effectLst/>
                <a:latin typeface="+mn-lt"/>
              </a:rPr>
              <a:t>STUDENT(</a:t>
            </a:r>
            <a:r>
              <a:rPr lang="en-IN" sz="2400" b="0" i="0" dirty="0" err="1">
                <a:effectLst/>
                <a:latin typeface="+mn-lt"/>
              </a:rPr>
              <a:t>StudentID</a:t>
            </a:r>
            <a:r>
              <a:rPr lang="en-IN" sz="2400" b="0" i="0" dirty="0">
                <a:effectLst/>
                <a:latin typeface="+mn-lt"/>
              </a:rPr>
              <a:t>, </a:t>
            </a:r>
            <a:r>
              <a:rPr lang="en-IN" sz="2400" b="0" i="0" dirty="0" err="1">
                <a:effectLst/>
                <a:latin typeface="+mn-lt"/>
              </a:rPr>
              <a:t>StudentName</a:t>
            </a:r>
            <a:r>
              <a:rPr lang="en-IN" sz="2400" b="0" i="0" dirty="0">
                <a:effectLst/>
                <a:latin typeface="+mn-lt"/>
              </a:rPr>
              <a:t>)</a:t>
            </a:r>
          </a:p>
          <a:p>
            <a:pPr fontAlgn="t">
              <a:lnSpc>
                <a:spcPct val="100000"/>
              </a:lnSpc>
              <a:buNone/>
            </a:pPr>
            <a:r>
              <a:rPr lang="en-IN" sz="2400" b="0" i="0" dirty="0">
                <a:effectLst/>
                <a:latin typeface="+mn-lt"/>
              </a:rPr>
              <a:t> </a:t>
            </a:r>
          </a:p>
          <a:p>
            <a:pPr fontAlgn="t">
              <a:lnSpc>
                <a:spcPct val="100000"/>
              </a:lnSpc>
              <a:buNone/>
            </a:pPr>
            <a:r>
              <a:rPr lang="en-IN" sz="2400" b="0" i="0" dirty="0">
                <a:effectLst/>
                <a:latin typeface="+mn-lt"/>
              </a:rPr>
              <a:t>COURSE(</a:t>
            </a:r>
            <a:r>
              <a:rPr lang="en-IN" sz="2400" b="0" i="0" dirty="0" err="1">
                <a:effectLst/>
                <a:latin typeface="+mn-lt"/>
              </a:rPr>
              <a:t>CourseID</a:t>
            </a:r>
            <a:r>
              <a:rPr lang="en-IN" sz="2400" b="0" i="0" dirty="0">
                <a:effectLst/>
                <a:latin typeface="+mn-lt"/>
              </a:rPr>
              <a:t>, </a:t>
            </a:r>
            <a:r>
              <a:rPr lang="en-IN" sz="2400" b="0" i="0" dirty="0" err="1">
                <a:effectLst/>
                <a:latin typeface="+mn-lt"/>
              </a:rPr>
              <a:t>CourseName</a:t>
            </a:r>
            <a:r>
              <a:rPr lang="en-IN" sz="2400" b="0" i="0" dirty="0">
                <a:effectLst/>
                <a:latin typeface="+mn-lt"/>
              </a:rPr>
              <a:t>, Instructor)</a:t>
            </a:r>
          </a:p>
          <a:p>
            <a:pPr fontAlgn="t">
              <a:lnSpc>
                <a:spcPct val="100000"/>
              </a:lnSpc>
              <a:buNone/>
            </a:pPr>
            <a:r>
              <a:rPr lang="en-IN" sz="2400" b="0" i="0" dirty="0">
                <a:effectLst/>
                <a:latin typeface="+mn-lt"/>
              </a:rPr>
              <a:t> </a:t>
            </a:r>
          </a:p>
          <a:p>
            <a:pPr fontAlgn="t">
              <a:lnSpc>
                <a:spcPct val="100000"/>
              </a:lnSpc>
              <a:buNone/>
            </a:pPr>
            <a:r>
              <a:rPr lang="en-IN" sz="2400" b="0" i="0" dirty="0">
                <a:effectLst/>
                <a:latin typeface="+mn-lt"/>
              </a:rPr>
              <a:t>ENROLLMENT(</a:t>
            </a:r>
            <a:r>
              <a:rPr lang="en-IN" sz="2400" b="0" i="0" dirty="0" err="1">
                <a:effectLst/>
                <a:latin typeface="+mn-lt"/>
              </a:rPr>
              <a:t>StudentID</a:t>
            </a:r>
            <a:r>
              <a:rPr lang="en-IN" sz="2400" b="0" i="0" dirty="0">
                <a:effectLst/>
                <a:latin typeface="+mn-lt"/>
              </a:rPr>
              <a:t>, </a:t>
            </a:r>
            <a:r>
              <a:rPr lang="en-IN" sz="2400" b="0" i="0" dirty="0" err="1">
                <a:effectLst/>
                <a:latin typeface="+mn-lt"/>
              </a:rPr>
              <a:t>CourseID</a:t>
            </a:r>
            <a:r>
              <a:rPr lang="en-IN" sz="2400" b="0" i="0" dirty="0">
                <a:effectLst/>
                <a:latin typeface="+mn-lt"/>
              </a:rPr>
              <a:t>, Grade)</a:t>
            </a:r>
            <a:endParaRPr lang="en-IN" sz="2400" b="0" i="0" dirty="0"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691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3NF vs BCNF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611179"/>
              </p:ext>
            </p:extLst>
          </p:nvPr>
        </p:nvGraphicFramePr>
        <p:xfrm>
          <a:off x="548640" y="123444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 dirty="0"/>
                        <a:t>Property</a:t>
                      </a:r>
                    </a:p>
                  </a:txBody>
                  <a:tcPr>
                    <a:solidFill>
                      <a:srgbClr val="182D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3NF</a:t>
                      </a:r>
                    </a:p>
                  </a:txBody>
                  <a:tcPr>
                    <a:solidFill>
                      <a:srgbClr val="182D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BCNF</a:t>
                      </a:r>
                    </a:p>
                  </a:txBody>
                  <a:tcPr>
                    <a:solidFill>
                      <a:srgbClr val="182D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Core condition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X is </a:t>
                      </a:r>
                      <a:r>
                        <a:rPr sz="2000" dirty="0" err="1"/>
                        <a:t>superkey</a:t>
                      </a:r>
                      <a:r>
                        <a:rPr sz="2000" dirty="0"/>
                        <a:t> OR Y is prime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X must be a superkey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Strength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Less restrictive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Stronger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Dependency preservation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Can often be achieved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May be lost after decomposition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Lossless decomposition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Can be designed to be lossless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Can be designed to be lossless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Typical 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Practical OLTP 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Use when stronger redundancy control is needed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9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Lossless-Join Decomposition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3489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b="1" dirty="0"/>
              <a:t>A decomposition is lossless if joining the decomposed relations reconstructs exactly the original relation</a:t>
            </a:r>
            <a:r>
              <a:rPr dirty="0"/>
              <a:t>—no spurious tuples and no lost tuples.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For binary decomposition R → R1, R2, a standard test is that the common attributes functionally determine all attributes of R1 or all attributes of R2 under F⁺.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 err="1"/>
              <a:t>Losslessness</a:t>
            </a:r>
            <a:r>
              <a:rPr dirty="0"/>
              <a:t> is essential: normalization must not change the meaning of valid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D60A0"/>
                </a:solidFill>
              </a:defRPr>
            </a:pPr>
            <a:r>
              <a:t>Think: decomposition should separate facts without inventing new combinations when tables are joined.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9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Dependency Preservation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3618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b="1" dirty="0"/>
              <a:t>A decomposition preserves dependencies if the original FDs can be enforced by checking the decomposed relations individually, without joining them.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Dependency preservation simplifies constraint enforcement.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3NF synthesis can guarantee a lossless, dependency-preserving decomposition.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BCNF decomposition may sacrifice dependency preservation.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74920"/>
            <a:ext cx="10789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D2782D"/>
                </a:solidFill>
              </a:defRPr>
            </a:pPr>
            <a:r>
              <a:rPr sz="2400" dirty="0"/>
              <a:t>Design trade-off: stronger normalization vs. convenient enforcement of all original dependencies.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9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3NF Synthesis: High-Level Procedure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4392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1. Compute a minimal/canonical cover of the functional dependencies.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2. For each FD X → Y in the cover, create a relation containing X ∪ Y.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3. If no created relation contains a candidate key of the original relation, add one relation containing a candidate key.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4. Remove redundant relations that are subsets of others.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5. The resulting decomposition is designed to be lossless and dependency-preserving.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9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Fourth Normal Form (4NF)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297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4NF addresses multivalued dependencies (MVDs), not just functional dependencies.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An MVD X ↠ Y means that, given X, the set of Y values is independent of the remaining attributes.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b="1" dirty="0"/>
              <a:t>4NF requires every non-trivial MVD X ↠ Y to have X as a </a:t>
            </a:r>
            <a:r>
              <a:rPr b="1" dirty="0" err="1"/>
              <a:t>superkey</a:t>
            </a:r>
            <a:r>
              <a:rPr b="1" dirty="0"/>
              <a:t>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Typical problem: one entity independently has many values of two different attributes.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749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D4B"/>
                </a:solidFill>
              </a:defRPr>
            </a:pPr>
            <a:r>
              <a:t>Example: Student(StudentID, Hobby, Language) can create a cross-product of hobbies and languages.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235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C7858"/>
                </a:solidFill>
              </a:defRPr>
            </a:pPr>
            <a:r>
              <a:t>Decompose: StudentHobby(StudentID, Hobby) and StudentLanguage(StudentID, Language).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9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Fifth Normal Form (5NF / PJNF)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4264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5NF addresses join dependencies and cases where a relation should be decomposed into three or more projections.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b="1" dirty="0"/>
              <a:t>A relation is in 5NF when every non-trivial join dependency is implied by candidate keys.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5NF is relatively uncommon in everyday application schemas.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It becomes relevant in complex many-to-many-to-many business rules where redundancy persists after 4NF.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9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Normal Forms at a Glance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9412842"/>
              </p:ext>
            </p:extLst>
          </p:nvPr>
        </p:nvGraphicFramePr>
        <p:xfrm>
          <a:off x="548640" y="1234440"/>
          <a:ext cx="11064240" cy="454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34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2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 dirty="0"/>
                        <a:t>Normal Form</a:t>
                      </a:r>
                    </a:p>
                  </a:txBody>
                  <a:tcPr>
                    <a:solidFill>
                      <a:srgbClr val="182D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Primary concern</a:t>
                      </a:r>
                    </a:p>
                  </a:txBody>
                  <a:tcPr>
                    <a:solidFill>
                      <a:srgbClr val="182D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Typical violation</a:t>
                      </a:r>
                    </a:p>
                  </a:txBody>
                  <a:tcPr>
                    <a:solidFill>
                      <a:srgbClr val="182D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1NF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Atomic values / no repeating groups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Multiple values in one cell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2NF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No partial dependency on composite key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 err="1"/>
                        <a:t>StudentID</a:t>
                      </a:r>
                      <a:r>
                        <a:rPr sz="2000" dirty="0"/>
                        <a:t> → </a:t>
                      </a:r>
                      <a:r>
                        <a:rPr sz="2000" dirty="0" err="1"/>
                        <a:t>StudentName</a:t>
                      </a:r>
                      <a:endParaRPr sz="2000" dirty="0"/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3NF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No inappropriate transitive dependency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 err="1"/>
                        <a:t>InstructorID</a:t>
                      </a:r>
                      <a:r>
                        <a:rPr sz="2000" dirty="0"/>
                        <a:t> → InstructorName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BCNF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Every determinant is a </a:t>
                      </a:r>
                      <a:r>
                        <a:rPr sz="2000" dirty="0" err="1"/>
                        <a:t>superkey</a:t>
                      </a:r>
                      <a:endParaRPr sz="2000" dirty="0"/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Non-key determinant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4NF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No problematic multivalued dependencies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Independent hobby/language sets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5NF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No problematic join dependencies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Complex ternary relationship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9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Worked Example: From Unnormalized Design to 3NF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4616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b="1" dirty="0"/>
              <a:t>UNF</a:t>
            </a:r>
            <a:r>
              <a:rPr dirty="0"/>
              <a:t>: </a:t>
            </a:r>
            <a:r>
              <a:rPr dirty="0" err="1"/>
              <a:t>StudentID</a:t>
            </a:r>
            <a:r>
              <a:rPr dirty="0"/>
              <a:t>, </a:t>
            </a:r>
            <a:r>
              <a:rPr dirty="0" err="1"/>
              <a:t>StudentName</a:t>
            </a:r>
            <a:r>
              <a:rPr dirty="0"/>
              <a:t>, {</a:t>
            </a:r>
            <a:r>
              <a:rPr dirty="0" err="1"/>
              <a:t>CourseID</a:t>
            </a:r>
            <a:r>
              <a:rPr dirty="0"/>
              <a:t>, </a:t>
            </a:r>
            <a:r>
              <a:rPr dirty="0" err="1"/>
              <a:t>CourseName</a:t>
            </a:r>
            <a:r>
              <a:rPr dirty="0"/>
              <a:t>, Instructor, Grade}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b="1" dirty="0"/>
              <a:t>1NF</a:t>
            </a:r>
            <a:r>
              <a:rPr dirty="0"/>
              <a:t>: flatten the repeating course group into individual enrollment rows.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b="1" dirty="0"/>
              <a:t>2NF</a:t>
            </a:r>
            <a:r>
              <a:rPr dirty="0"/>
              <a:t>: separate Student and Course facts from Enrollment because they depend on only part of the composite key.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b="1" dirty="0"/>
              <a:t>3NF</a:t>
            </a:r>
            <a:r>
              <a:rPr dirty="0"/>
              <a:t>: separate Instructor information if </a:t>
            </a:r>
            <a:r>
              <a:rPr dirty="0" err="1"/>
              <a:t>CourseID</a:t>
            </a:r>
            <a:r>
              <a:rPr dirty="0"/>
              <a:t> → </a:t>
            </a:r>
            <a:r>
              <a:rPr dirty="0" err="1"/>
              <a:t>InstructorID</a:t>
            </a:r>
            <a:r>
              <a:rPr dirty="0"/>
              <a:t> and </a:t>
            </a:r>
            <a:r>
              <a:rPr dirty="0" err="1"/>
              <a:t>InstructorID</a:t>
            </a:r>
            <a:r>
              <a:rPr dirty="0"/>
              <a:t> → InstructorName.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dirty="0"/>
              <a:t>Final schema: Student(</a:t>
            </a:r>
            <a:r>
              <a:rPr dirty="0" err="1"/>
              <a:t>StudentID</a:t>
            </a:r>
            <a:r>
              <a:rPr dirty="0"/>
              <a:t>, </a:t>
            </a:r>
            <a:r>
              <a:rPr dirty="0" err="1"/>
              <a:t>StudentName</a:t>
            </a:r>
            <a:r>
              <a:rPr dirty="0"/>
              <a:t>); Instructor(</a:t>
            </a:r>
            <a:r>
              <a:rPr dirty="0" err="1"/>
              <a:t>InstructorID</a:t>
            </a:r>
            <a:r>
              <a:rPr dirty="0"/>
              <a:t>, InstructorName); Course(</a:t>
            </a:r>
            <a:r>
              <a:rPr dirty="0" err="1"/>
              <a:t>CourseID</a:t>
            </a:r>
            <a:r>
              <a:rPr dirty="0"/>
              <a:t>, </a:t>
            </a:r>
            <a:r>
              <a:rPr dirty="0" err="1"/>
              <a:t>CourseName</a:t>
            </a:r>
            <a:r>
              <a:rPr dirty="0"/>
              <a:t>, </a:t>
            </a:r>
            <a:r>
              <a:rPr dirty="0" err="1"/>
              <a:t>InstructorID</a:t>
            </a:r>
            <a:r>
              <a:rPr dirty="0"/>
              <a:t>); Enrollment(</a:t>
            </a:r>
            <a:r>
              <a:rPr dirty="0" err="1"/>
              <a:t>StudentID</a:t>
            </a:r>
            <a:r>
              <a:rPr dirty="0"/>
              <a:t>, </a:t>
            </a:r>
            <a:r>
              <a:rPr dirty="0" err="1"/>
              <a:t>CourseID</a:t>
            </a:r>
            <a:r>
              <a:rPr dirty="0"/>
              <a:t>, Grade).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9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Normalization vs. Denormalization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441879"/>
              </p:ext>
            </p:extLst>
          </p:nvPr>
        </p:nvGraphicFramePr>
        <p:xfrm>
          <a:off x="548640" y="123444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 dirty="0"/>
                        <a:t>Normalization</a:t>
                      </a:r>
                    </a:p>
                  </a:txBody>
                  <a:tcPr>
                    <a:solidFill>
                      <a:srgbClr val="182D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Denormalization</a:t>
                      </a:r>
                    </a:p>
                  </a:txBody>
                  <a:tcPr>
                    <a:solidFill>
                      <a:srgbClr val="182D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Reduces redundancy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Intentionally introduces controlled redundancy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Fewer update anomalies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May simplify/accelerate reads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More joins may be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Fewer joins may be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Strong fit for transactional integrity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Often useful for reporting/analytics or performance hotspots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Default design strategy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Use deliberately after measuring workload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7607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2782D"/>
                </a:solidFill>
              </a:defRPr>
            </a:pPr>
            <a:r>
              <a:t>Denormalize for a measured reason—not because joins are automatically bad.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9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Practical Design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5295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spcAft>
                <a:spcPts val="1000"/>
              </a:spcAft>
              <a:buFont typeface="Wingdings" panose="05000000000000000000" pitchFamily="2" charset="2"/>
              <a:buChar char="q"/>
              <a:defRPr sz="2100">
                <a:solidFill>
                  <a:srgbClr val="232323"/>
                </a:solidFill>
              </a:defRPr>
            </a:pPr>
            <a:r>
              <a:rPr dirty="0"/>
              <a:t>Identify entities, attributes, and relationships before splitting tables.</a:t>
            </a:r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Font typeface="Wingdings" panose="05000000000000000000" pitchFamily="2" charset="2"/>
              <a:buChar char="q"/>
              <a:defRPr sz="2100">
                <a:solidFill>
                  <a:srgbClr val="232323"/>
                </a:solidFill>
              </a:defRPr>
            </a:pPr>
            <a:r>
              <a:rPr dirty="0"/>
              <a:t>State business rules as functional/multivalued dependencies where possible.</a:t>
            </a:r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Font typeface="Wingdings" panose="05000000000000000000" pitchFamily="2" charset="2"/>
              <a:buChar char="q"/>
              <a:defRPr sz="2100">
                <a:solidFill>
                  <a:srgbClr val="232323"/>
                </a:solidFill>
              </a:defRPr>
            </a:pPr>
            <a:r>
              <a:rPr dirty="0"/>
              <a:t>Find candidate keys—not only a convenient primary key.</a:t>
            </a:r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Font typeface="Wingdings" panose="05000000000000000000" pitchFamily="2" charset="2"/>
              <a:buChar char="q"/>
              <a:defRPr sz="2100">
                <a:solidFill>
                  <a:srgbClr val="232323"/>
                </a:solidFill>
              </a:defRPr>
            </a:pPr>
            <a:r>
              <a:rPr dirty="0"/>
              <a:t>Check 1NF → 2NF → 3NF/BCNF systematically.</a:t>
            </a:r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Font typeface="Wingdings" panose="05000000000000000000" pitchFamily="2" charset="2"/>
              <a:buChar char="q"/>
              <a:defRPr sz="2100">
                <a:solidFill>
                  <a:srgbClr val="232323"/>
                </a:solidFill>
              </a:defRPr>
            </a:pPr>
            <a:r>
              <a:rPr dirty="0"/>
              <a:t>Verify lossless join and dependency preservation after decomposition.</a:t>
            </a:r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Font typeface="Wingdings" panose="05000000000000000000" pitchFamily="2" charset="2"/>
              <a:buChar char="q"/>
              <a:defRPr sz="2100">
                <a:solidFill>
                  <a:srgbClr val="232323"/>
                </a:solidFill>
              </a:defRPr>
            </a:pPr>
            <a:r>
              <a:rPr dirty="0"/>
              <a:t>Add primary keys, foreign keys, UNIQUE and CHECK constraints as appropriate.</a:t>
            </a:r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Font typeface="Wingdings" panose="05000000000000000000" pitchFamily="2" charset="2"/>
              <a:buChar char="q"/>
              <a:defRPr sz="2100">
                <a:solidFill>
                  <a:srgbClr val="232323"/>
                </a:solidFill>
              </a:defRPr>
            </a:pPr>
            <a:r>
              <a:rPr dirty="0"/>
              <a:t>Benchmark real queries before considering denormalization.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9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Common Misconceptions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4521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100">
                <a:solidFill>
                  <a:srgbClr val="232323"/>
                </a:solidFill>
              </a:defRPr>
            </a:pPr>
            <a:r>
              <a:rPr dirty="0"/>
              <a:t>“One table per entity” is not the same as being fully normalized.</a:t>
            </a:r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100">
                <a:solidFill>
                  <a:srgbClr val="232323"/>
                </a:solidFill>
              </a:defRPr>
            </a:pPr>
            <a:r>
              <a:rPr dirty="0"/>
              <a:t>Normalization does not mean every table must have exactly one non-key attribute.</a:t>
            </a:r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100">
                <a:solidFill>
                  <a:srgbClr val="232323"/>
                </a:solidFill>
              </a:defRPr>
            </a:pPr>
            <a:r>
              <a:rPr dirty="0"/>
              <a:t>3NF and BCNF are not interchangeable.</a:t>
            </a:r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100">
                <a:solidFill>
                  <a:srgbClr val="232323"/>
                </a:solidFill>
              </a:defRPr>
            </a:pPr>
            <a:r>
              <a:rPr dirty="0"/>
              <a:t>An FD observed in a small sample is not necessarily a business rule.</a:t>
            </a:r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100">
                <a:solidFill>
                  <a:srgbClr val="232323"/>
                </a:solidFill>
              </a:defRPr>
            </a:pPr>
            <a:r>
              <a:rPr dirty="0"/>
              <a:t>Foreign keys do not by themselves guarantee normalization.</a:t>
            </a:r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100">
                <a:solidFill>
                  <a:srgbClr val="232323"/>
                </a:solidFill>
              </a:defRPr>
            </a:pPr>
            <a:r>
              <a:rPr dirty="0"/>
              <a:t>Normalization is about dependencies and facts, not simply the number of columns.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9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Normalized Schema: SQL Sketch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6161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 sz="1500" b="0">
                <a:solidFill>
                  <a:srgbClr val="232323"/>
                </a:solidFill>
              </a:defRPr>
            </a:pPr>
            <a:r>
              <a:rPr sz="2000" dirty="0"/>
              <a:t>CREATE TABLE Student (</a:t>
            </a:r>
            <a:br>
              <a:rPr sz="2000" dirty="0"/>
            </a:br>
            <a:r>
              <a:rPr sz="2000" dirty="0"/>
              <a:t>    </a:t>
            </a:r>
            <a:r>
              <a:rPr sz="2000" dirty="0" err="1"/>
              <a:t>StudentID</a:t>
            </a:r>
            <a:r>
              <a:rPr sz="2000" dirty="0"/>
              <a:t> INT PRIMARY KEY,</a:t>
            </a:r>
            <a:br>
              <a:rPr sz="2000" dirty="0"/>
            </a:br>
            <a:r>
              <a:rPr sz="2000" dirty="0"/>
              <a:t>    </a:t>
            </a:r>
            <a:r>
              <a:rPr sz="2000" dirty="0" err="1"/>
              <a:t>StudentName</a:t>
            </a:r>
            <a:r>
              <a:rPr sz="2000" dirty="0"/>
              <a:t> VARCHAR(100) NOT NULL</a:t>
            </a:r>
            <a:br>
              <a:rPr sz="2000" dirty="0"/>
            </a:br>
            <a:r>
              <a:rPr sz="2000" dirty="0"/>
              <a:t>);</a:t>
            </a:r>
            <a:br>
              <a:rPr sz="2000" dirty="0"/>
            </a:br>
            <a:br>
              <a:rPr sz="2000" dirty="0"/>
            </a:br>
            <a:r>
              <a:rPr sz="2000" dirty="0"/>
              <a:t>CREATE TABLE Instructor (</a:t>
            </a:r>
            <a:br>
              <a:rPr sz="2000" dirty="0"/>
            </a:br>
            <a:r>
              <a:rPr sz="2000" dirty="0"/>
              <a:t>    </a:t>
            </a:r>
            <a:r>
              <a:rPr sz="2000" dirty="0" err="1"/>
              <a:t>InstructorID</a:t>
            </a:r>
            <a:r>
              <a:rPr sz="2000" dirty="0"/>
              <a:t> INT PRIMARY KEY,</a:t>
            </a:r>
            <a:br>
              <a:rPr sz="2000" dirty="0"/>
            </a:br>
            <a:r>
              <a:rPr sz="2000" dirty="0"/>
              <a:t>    InstructorName VARCHAR(100) NOT NULL</a:t>
            </a:r>
            <a:br>
              <a:rPr sz="2000" dirty="0"/>
            </a:br>
            <a:r>
              <a:rPr sz="2000" dirty="0"/>
              <a:t>);</a:t>
            </a:r>
            <a:br>
              <a:rPr sz="2000" dirty="0"/>
            </a:br>
            <a:endParaRPr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9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96C7ED-C670-9720-814F-C4D54365D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17714B-DBAE-F05E-46A3-DCDE30F09896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D425E0-DAC8-AC8F-9C9E-80FDF4ADC680}"/>
              </a:ext>
            </a:extLst>
          </p:cNvPr>
          <p:cNvSpPr txBox="1"/>
          <p:nvPr/>
        </p:nvSpPr>
        <p:spPr>
          <a:xfrm>
            <a:off x="50292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Normalized Schema: SQL Sketch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1C823E-9E5C-A41E-B549-E1A5D4919614}"/>
              </a:ext>
            </a:extLst>
          </p:cNvPr>
          <p:cNvSpPr txBox="1"/>
          <p:nvPr/>
        </p:nvSpPr>
        <p:spPr>
          <a:xfrm>
            <a:off x="594360" y="1051560"/>
            <a:ext cx="109728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323"/>
                </a:solidFill>
              </a:defRPr>
            </a:pPr>
            <a:r>
              <a:rPr sz="2000" dirty="0"/>
              <a:t>CREATE TABLE Course (</a:t>
            </a:r>
            <a:br>
              <a:rPr sz="2000" dirty="0"/>
            </a:br>
            <a:r>
              <a:rPr sz="2000" dirty="0"/>
              <a:t>    </a:t>
            </a:r>
            <a:r>
              <a:rPr sz="2000" dirty="0" err="1"/>
              <a:t>CourseID</a:t>
            </a:r>
            <a:r>
              <a:rPr sz="2000" dirty="0"/>
              <a:t> INT PRIMARY KEY,</a:t>
            </a:r>
            <a:br>
              <a:rPr sz="2000" dirty="0"/>
            </a:br>
            <a:r>
              <a:rPr sz="2000" dirty="0"/>
              <a:t>    </a:t>
            </a:r>
            <a:r>
              <a:rPr sz="2000" dirty="0" err="1"/>
              <a:t>CourseName</a:t>
            </a:r>
            <a:r>
              <a:rPr sz="2000" dirty="0"/>
              <a:t> VARCHAR(100) NOT NULL,</a:t>
            </a:r>
            <a:br>
              <a:rPr sz="2000" dirty="0"/>
            </a:br>
            <a:r>
              <a:rPr sz="2000" dirty="0"/>
              <a:t>    </a:t>
            </a:r>
            <a:r>
              <a:rPr sz="2000" dirty="0" err="1"/>
              <a:t>InstructorID</a:t>
            </a:r>
            <a:r>
              <a:rPr sz="2000" dirty="0"/>
              <a:t> INT NOT NULL,</a:t>
            </a:r>
            <a:br>
              <a:rPr sz="2000" dirty="0"/>
            </a:br>
            <a:r>
              <a:rPr sz="2000" dirty="0"/>
              <a:t>    FOREIGN KEY (</a:t>
            </a:r>
            <a:r>
              <a:rPr sz="2000" dirty="0" err="1"/>
              <a:t>InstructorID</a:t>
            </a:r>
            <a:r>
              <a:rPr sz="2000" dirty="0"/>
              <a:t>) REFERENCES Instructor(</a:t>
            </a:r>
            <a:r>
              <a:rPr sz="2000" dirty="0" err="1"/>
              <a:t>InstructorID</a:t>
            </a:r>
            <a:r>
              <a:rPr sz="2000" dirty="0"/>
              <a:t>)</a:t>
            </a:r>
            <a:br>
              <a:rPr sz="2000" dirty="0"/>
            </a:br>
            <a:r>
              <a:rPr sz="2000" dirty="0"/>
              <a:t>);</a:t>
            </a:r>
            <a:br>
              <a:rPr sz="2000" dirty="0"/>
            </a:br>
            <a:br>
              <a:rPr sz="2000" dirty="0"/>
            </a:br>
            <a:r>
              <a:rPr sz="2000" dirty="0"/>
              <a:t>CREATE TABLE Enrollment (</a:t>
            </a:r>
            <a:br>
              <a:rPr sz="2000" dirty="0"/>
            </a:br>
            <a:r>
              <a:rPr sz="2000" dirty="0"/>
              <a:t>    </a:t>
            </a:r>
            <a:r>
              <a:rPr sz="2000" dirty="0" err="1"/>
              <a:t>StudentID</a:t>
            </a:r>
            <a:r>
              <a:rPr sz="2000" dirty="0"/>
              <a:t> INT,</a:t>
            </a:r>
            <a:br>
              <a:rPr sz="2000" dirty="0"/>
            </a:br>
            <a:r>
              <a:rPr sz="2000" dirty="0"/>
              <a:t>    </a:t>
            </a:r>
            <a:r>
              <a:rPr sz="2000" dirty="0" err="1"/>
              <a:t>CourseID</a:t>
            </a:r>
            <a:r>
              <a:rPr sz="2000" dirty="0"/>
              <a:t> INT,</a:t>
            </a:r>
            <a:br>
              <a:rPr sz="2000" dirty="0"/>
            </a:br>
            <a:r>
              <a:rPr sz="2000" dirty="0"/>
              <a:t>    Grade VARCHAR(5),</a:t>
            </a:r>
            <a:br>
              <a:rPr sz="2000" dirty="0"/>
            </a:br>
            <a:r>
              <a:rPr sz="2000" dirty="0"/>
              <a:t>    PRIMARY KEY (</a:t>
            </a:r>
            <a:r>
              <a:rPr sz="2000" dirty="0" err="1"/>
              <a:t>StudentID</a:t>
            </a:r>
            <a:r>
              <a:rPr sz="2000" dirty="0"/>
              <a:t>, </a:t>
            </a:r>
            <a:r>
              <a:rPr sz="2000" dirty="0" err="1"/>
              <a:t>CourseID</a:t>
            </a:r>
            <a:r>
              <a:rPr sz="2000" dirty="0"/>
              <a:t>),</a:t>
            </a:r>
            <a:br>
              <a:rPr sz="2000" dirty="0"/>
            </a:br>
            <a:r>
              <a:rPr sz="2000" dirty="0"/>
              <a:t>    FOREIGN KEY (</a:t>
            </a:r>
            <a:r>
              <a:rPr sz="2000" dirty="0" err="1"/>
              <a:t>StudentID</a:t>
            </a:r>
            <a:r>
              <a:rPr sz="2000" dirty="0"/>
              <a:t>) REFERENCES Student(</a:t>
            </a:r>
            <a:r>
              <a:rPr sz="2000" dirty="0" err="1"/>
              <a:t>StudentID</a:t>
            </a:r>
            <a:r>
              <a:rPr sz="2000" dirty="0"/>
              <a:t>),</a:t>
            </a:r>
            <a:br>
              <a:rPr sz="2000" dirty="0"/>
            </a:br>
            <a:r>
              <a:rPr sz="2000" dirty="0"/>
              <a:t>    FOREIGN KEY (</a:t>
            </a:r>
            <a:r>
              <a:rPr sz="2000" dirty="0" err="1"/>
              <a:t>CourseID</a:t>
            </a:r>
            <a:r>
              <a:rPr sz="2000" dirty="0"/>
              <a:t>) REFERENCES Course(</a:t>
            </a:r>
            <a:r>
              <a:rPr sz="2000" dirty="0" err="1"/>
              <a:t>CourseID</a:t>
            </a:r>
            <a:r>
              <a:rPr sz="2000" dirty="0"/>
              <a:t>)</a:t>
            </a:r>
            <a:br>
              <a:rPr sz="2000" dirty="0"/>
            </a:br>
            <a:r>
              <a:rPr sz="2000" dirty="0"/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2702E4-DA6B-22C5-CD8E-B69D38A4A3C4}"/>
              </a:ext>
            </a:extLst>
          </p:cNvPr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9"/>
                </a:solidFill>
              </a:defRPr>
            </a:pPr>
            <a: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9888081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5813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spcAft>
                <a:spcPts val="1000"/>
              </a:spcAft>
              <a:buFont typeface="Wingdings" panose="05000000000000000000" pitchFamily="2" charset="2"/>
              <a:buChar char="q"/>
              <a:defRPr sz="2100">
                <a:solidFill>
                  <a:srgbClr val="232323"/>
                </a:solidFill>
              </a:defRPr>
            </a:pPr>
            <a:r>
              <a:rPr dirty="0"/>
              <a:t>Normalization is a dependency-driven method for designing reliable relational schemas.</a:t>
            </a:r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Font typeface="Wingdings" panose="05000000000000000000" pitchFamily="2" charset="2"/>
              <a:buChar char="q"/>
              <a:defRPr sz="2100">
                <a:solidFill>
                  <a:srgbClr val="232323"/>
                </a:solidFill>
              </a:defRPr>
            </a:pPr>
            <a:r>
              <a:rPr dirty="0"/>
              <a:t>1NF handles atomicity; 2NF removes partial dependencies; 3NF controls transitive dependencies.</a:t>
            </a:r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Font typeface="Wingdings" panose="05000000000000000000" pitchFamily="2" charset="2"/>
              <a:buChar char="q"/>
              <a:defRPr sz="2100">
                <a:solidFill>
                  <a:srgbClr val="232323"/>
                </a:solidFill>
              </a:defRPr>
            </a:pPr>
            <a:r>
              <a:rPr dirty="0"/>
              <a:t>BCNF strengthens 3NF by requiring every determinant to be a </a:t>
            </a:r>
            <a:r>
              <a:rPr dirty="0" err="1"/>
              <a:t>superkey</a:t>
            </a:r>
            <a:r>
              <a:rPr dirty="0"/>
              <a:t>.</a:t>
            </a:r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Font typeface="Wingdings" panose="05000000000000000000" pitchFamily="2" charset="2"/>
              <a:buChar char="q"/>
              <a:defRPr sz="2100">
                <a:solidFill>
                  <a:srgbClr val="232323"/>
                </a:solidFill>
              </a:defRPr>
            </a:pPr>
            <a:r>
              <a:rPr dirty="0"/>
              <a:t>4NF handles multivalued dependencies; 5NF handles join dependencies.</a:t>
            </a:r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Font typeface="Wingdings" panose="05000000000000000000" pitchFamily="2" charset="2"/>
              <a:buChar char="q"/>
              <a:defRPr sz="2100">
                <a:solidFill>
                  <a:srgbClr val="232323"/>
                </a:solidFill>
              </a:defRPr>
            </a:pPr>
            <a:r>
              <a:rPr dirty="0"/>
              <a:t>Good decomposition should preserve meaning—especially </a:t>
            </a:r>
            <a:r>
              <a:rPr dirty="0" err="1"/>
              <a:t>losslessness</a:t>
            </a:r>
            <a:r>
              <a:rPr dirty="0"/>
              <a:t>—and preferably preserve dependencies.</a:t>
            </a:r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Font typeface="Wingdings" panose="05000000000000000000" pitchFamily="2" charset="2"/>
              <a:buChar char="q"/>
              <a:defRPr sz="2100">
                <a:solidFill>
                  <a:srgbClr val="232323"/>
                </a:solidFill>
              </a:defRPr>
            </a:pPr>
            <a:r>
              <a:rPr dirty="0"/>
              <a:t>Use normalization as the default, then </a:t>
            </a:r>
            <a:r>
              <a:rPr dirty="0" err="1"/>
              <a:t>denormalize</a:t>
            </a:r>
            <a:r>
              <a:rPr dirty="0"/>
              <a:t> only when workload evidence justifies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9"/>
                </a:solidFill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Classroom Exercise /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188720" cy="527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100" b="1">
                <a:solidFill>
                  <a:srgbClr val="182D4B"/>
                </a:solidFill>
              </a:defRPr>
            </a:pPr>
            <a:r>
              <a:rPr dirty="0"/>
              <a:t>Given: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000" b="1">
                <a:solidFill>
                  <a:srgbClr val="232323"/>
                </a:solidFill>
              </a:defRPr>
            </a:pPr>
            <a:r>
              <a:rPr dirty="0"/>
              <a:t>Order(</a:t>
            </a:r>
            <a:r>
              <a:rPr dirty="0" err="1"/>
              <a:t>OrderID</a:t>
            </a:r>
            <a:r>
              <a:rPr dirty="0"/>
              <a:t>, </a:t>
            </a:r>
            <a:r>
              <a:rPr dirty="0" err="1"/>
              <a:t>CustomerID</a:t>
            </a:r>
            <a:r>
              <a:rPr dirty="0"/>
              <a:t>, </a:t>
            </a:r>
            <a:r>
              <a:rPr dirty="0" err="1"/>
              <a:t>CustomerName</a:t>
            </a:r>
            <a:r>
              <a:rPr dirty="0"/>
              <a:t>, </a:t>
            </a:r>
            <a:r>
              <a:rPr dirty="0" err="1"/>
              <a:t>ProductID</a:t>
            </a:r>
            <a:r>
              <a:rPr dirty="0"/>
              <a:t>, ProductName, Quantity, </a:t>
            </a:r>
            <a:r>
              <a:rPr dirty="0" err="1"/>
              <a:t>SalespersonID</a:t>
            </a:r>
            <a:r>
              <a:rPr dirty="0"/>
              <a:t>, </a:t>
            </a:r>
            <a:r>
              <a:rPr dirty="0" err="1"/>
              <a:t>SalespersonName</a:t>
            </a:r>
            <a:r>
              <a:rPr dirty="0"/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24809"/>
            <a:ext cx="10515600" cy="3727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b="1" dirty="0"/>
              <a:t>Assume: </a:t>
            </a:r>
            <a:r>
              <a:rPr b="1" dirty="0" err="1"/>
              <a:t>CustomerID</a:t>
            </a:r>
            <a:r>
              <a:rPr b="1" dirty="0"/>
              <a:t> → </a:t>
            </a:r>
            <a:r>
              <a:rPr b="1" dirty="0" err="1"/>
              <a:t>CustomerName</a:t>
            </a:r>
            <a:r>
              <a:rPr b="1" dirty="0"/>
              <a:t>; </a:t>
            </a:r>
            <a:r>
              <a:rPr b="1" dirty="0" err="1"/>
              <a:t>ProductID</a:t>
            </a:r>
            <a:r>
              <a:rPr b="1" dirty="0"/>
              <a:t> → ProductName; </a:t>
            </a:r>
            <a:r>
              <a:rPr b="1" dirty="0" err="1"/>
              <a:t>SalespersonID</a:t>
            </a:r>
            <a:r>
              <a:rPr b="1" dirty="0"/>
              <a:t> → </a:t>
            </a:r>
            <a:r>
              <a:rPr b="1" dirty="0" err="1"/>
              <a:t>SalespersonName</a:t>
            </a:r>
            <a:r>
              <a:rPr b="1" dirty="0"/>
              <a:t>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b="1" dirty="0" err="1"/>
              <a:t>OrderID</a:t>
            </a:r>
            <a:r>
              <a:rPr b="1" dirty="0"/>
              <a:t> + </a:t>
            </a:r>
            <a:r>
              <a:rPr b="1" dirty="0" err="1"/>
              <a:t>ProductID</a:t>
            </a:r>
            <a:r>
              <a:rPr b="1" dirty="0"/>
              <a:t> → Quantity.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dirty="0"/>
              <a:t>1. Identify candidate keys and prime attributes.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dirty="0"/>
              <a:t>2. Identify partial and transitive dependencies.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dirty="0"/>
              <a:t>3. Decompose the relation to 3NF.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dirty="0"/>
              <a:t>4. Identify primary and foreign keys in the final schema.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dirty="0"/>
              <a:t>5. Discuss whether BCNF changes the result.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9"/>
                </a:solidFill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References / Further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887" y="1546870"/>
            <a:ext cx="10789920" cy="4141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50000"/>
              </a:lnSpc>
              <a:spcAft>
                <a:spcPts val="1000"/>
              </a:spcAft>
              <a:buFont typeface="Wingdings" panose="05000000000000000000" pitchFamily="2" charset="2"/>
              <a:buChar char="Ø"/>
              <a:defRPr sz="1900">
                <a:solidFill>
                  <a:srgbClr val="232323"/>
                </a:solidFill>
              </a:defRPr>
            </a:pPr>
            <a:r>
              <a:rPr dirty="0"/>
              <a:t>Ramez Elmasri &amp; Shamkant B. Navathe, Fundamentals of Database Systems.</a:t>
            </a:r>
          </a:p>
          <a:p>
            <a:pPr marL="342900" indent="-342900">
              <a:lnSpc>
                <a:spcPct val="250000"/>
              </a:lnSpc>
              <a:spcAft>
                <a:spcPts val="1000"/>
              </a:spcAft>
              <a:buFont typeface="Wingdings" panose="05000000000000000000" pitchFamily="2" charset="2"/>
              <a:buChar char="Ø"/>
              <a:defRPr sz="1900">
                <a:solidFill>
                  <a:srgbClr val="232323"/>
                </a:solidFill>
              </a:defRPr>
            </a:pPr>
            <a:r>
              <a:rPr dirty="0"/>
              <a:t>Abraham Silberschatz, Henry F. Korth &amp; S. Sudarshan, Database System Concepts.</a:t>
            </a:r>
          </a:p>
          <a:p>
            <a:pPr marL="342900" indent="-342900">
              <a:lnSpc>
                <a:spcPct val="250000"/>
              </a:lnSpc>
              <a:spcAft>
                <a:spcPts val="1000"/>
              </a:spcAft>
              <a:buFont typeface="Wingdings" panose="05000000000000000000" pitchFamily="2" charset="2"/>
              <a:buChar char="Ø"/>
              <a:defRPr sz="1900">
                <a:solidFill>
                  <a:srgbClr val="232323"/>
                </a:solidFill>
              </a:defRPr>
            </a:pPr>
            <a:r>
              <a:rPr dirty="0"/>
              <a:t>C. J. Date, An Introduction to Database Systems.</a:t>
            </a:r>
          </a:p>
          <a:p>
            <a:pPr marL="342900" indent="-342900">
              <a:lnSpc>
                <a:spcPct val="250000"/>
              </a:lnSpc>
              <a:spcAft>
                <a:spcPts val="1000"/>
              </a:spcAft>
              <a:buFont typeface="Wingdings" panose="05000000000000000000" pitchFamily="2" charset="2"/>
              <a:buChar char="Ø"/>
              <a:defRPr sz="1900">
                <a:solidFill>
                  <a:srgbClr val="232323"/>
                </a:solidFill>
              </a:defRPr>
            </a:pPr>
            <a:r>
              <a:rPr dirty="0"/>
              <a:t>Jeffrey D. Ullman &amp; Jennifer Widom, A First Course in Database Systems.</a:t>
            </a:r>
          </a:p>
          <a:p>
            <a:pPr marL="342900" indent="-342900">
              <a:lnSpc>
                <a:spcPct val="250000"/>
              </a:lnSpc>
              <a:spcAft>
                <a:spcPts val="1000"/>
              </a:spcAft>
              <a:buFont typeface="Wingdings" panose="05000000000000000000" pitchFamily="2" charset="2"/>
              <a:buChar char="Ø"/>
              <a:defRPr sz="1900">
                <a:solidFill>
                  <a:srgbClr val="232323"/>
                </a:solidFill>
              </a:defRPr>
            </a:pPr>
            <a:r>
              <a:rPr dirty="0"/>
              <a:t>Raghu Ramakrishnan &amp; Johannes Gehrke, Database Management Systems.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9"/>
                </a:solidFill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2492</Words>
  <Application>Microsoft Office PowerPoint</Application>
  <PresentationFormat>Widescreen</PresentationFormat>
  <Paragraphs>365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Algerian</vt:lpstr>
      <vt:lpstr>Arial</vt:lpstr>
      <vt:lpstr>Calibri</vt:lpstr>
      <vt:lpstr>Cambria Math</vt:lpstr>
      <vt:lpstr>Segoe UI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Vice-Dean</dc:creator>
  <cp:keywords/>
  <dc:description>generated using python-pptx</dc:description>
  <cp:lastModifiedBy>Dr. Kiran Mayee Adavala</cp:lastModifiedBy>
  <cp:revision>2</cp:revision>
  <dcterms:created xsi:type="dcterms:W3CDTF">2013-01-27T09:14:16Z</dcterms:created>
  <dcterms:modified xsi:type="dcterms:W3CDTF">2026-09-21T11:34:44Z</dcterms:modified>
  <cp:category/>
</cp:coreProperties>
</file>