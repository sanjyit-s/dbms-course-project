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databases hold an organisation's most valuable data, so controlling who can see and change it is a core DBMS responsibility.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the objectives; tell students the session moves from concepts (models) to practice (SQL) to risks (threats).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the CIA triad. Ask students for examples of data in a university DB that must be protected.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identity must be established (authentication) before privileges can be checked (authorization).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one-line idea of each model; the next slides go deeper into DAC, MAC and RBAC.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SQL: the first statement gives SELECT plus column-level UPDATE on marks. The weakness of DAC is that a user with grant option can leak access to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privileges act on the database as a whole; object privileges act on specific tables, views, procedures.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= read, W = write (insert/update), D = delete. Databases store this internally in the data dictionary.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revocation follows the grant graph. Behaviour details vary by DBMS (Oracle, PostgreSQL, MySQL).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cannot change these labels; only the security administrator can. That is what makes it mandatory.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can hold several roles and roles can inherit from other roles (role hierarchy), e.g. head_of_dept inherits faculty_role.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Syntax is close to standard SQL; exact commands differ slightly across Oracle, MySQL 8 and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view is a stored query; granting access to the view rather than the table exposes only the intended slice of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summary slide of the models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injection bypasses application-level checks, which is why the database account used by an application should itself have minimal privileges.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(1) DAC: owner grants privileges, e.g. Oracle GRANT; MAC: labels enforced by system, e.g. Top Secret clearance. (2) C loses the privilege too. (3) Create a view filtered by the current user and grant SELECT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 in DBMS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do what, on which data: DAC, MAC, RBAC and SQL privileges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Kiran Mayee Adavala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 (AI&amp;ML), School of Technology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75120" y="1280160"/>
            <a:ext cx="2011680" cy="2011680"/>
          </a:xfrm>
          <a:prstGeom prst="ellipse">
            <a:avLst/>
          </a:prstGeom>
          <a:solidFill>
            <a:srgbClr val="1F3358"/>
          </a:solidFill>
          <a:ln w="38100">
            <a:solidFill>
              <a:srgbClr val="FCA31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7830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in DBMS  |  Woxsen University, School of Technology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72184"/>
            <a:ext cx="402336" cy="40233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472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1732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access control is essential for database security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039112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093976"/>
            <a:ext cx="402336" cy="40233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093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03911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authentication, authorization and accounting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660904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715768"/>
            <a:ext cx="402336" cy="40233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715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66090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DAC, MAC, RBAC and ABAC models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282696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37560"/>
            <a:ext cx="402336" cy="40233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282696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SQL GRANT, REVOKE, roles and views to enforce access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904488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959352"/>
            <a:ext cx="402336" cy="40233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90448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privilege propagation and cascading revocation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Access Control?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in DBMS  |  Woxsen University, School of Technology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7160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15252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5603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authorised users can read sensitive data such as grades, salaries and medical records.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18872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137160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059" y="152521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25603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permitted users can insert, modify or delete, so data stays accurate and trustworthy.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26480" y="118872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55080" y="137160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699" y="152521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5603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users get timely access; misuse or accidental deletion does not take the system down.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31520" y="37033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decides WHO may perform WHAT operation on WHICH data object.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Authentication, Authorization, Accounting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in DBMS  |  Woxsen University, School of Technology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71600"/>
            <a:ext cx="594360" cy="5943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514246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Authentication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2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you?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7889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username and password, MFA, or certificates.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880360" y="2423160"/>
            <a:ext cx="457200" cy="0"/>
          </a:xfrm>
          <a:prstGeom prst="line">
            <a:avLst/>
          </a:prstGeom>
          <a:noFill/>
          <a:ln w="28575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383280" y="118872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11880" y="1371600"/>
            <a:ext cx="594360" cy="5943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526" y="1514246"/>
            <a:ext cx="309067" cy="30906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1188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Authorization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1188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2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may you do?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611880" y="27889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Privileges checked on every SQL statement: SELECT, INSERT, UPDATE, DELETE.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806440" y="2423160"/>
            <a:ext cx="457200" cy="0"/>
          </a:xfrm>
          <a:prstGeom prst="line">
            <a:avLst/>
          </a:prstGeom>
          <a:noFill/>
          <a:ln w="28575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309360" y="118872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537960" y="1371600"/>
            <a:ext cx="594360" cy="5943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606" y="1514246"/>
            <a:ext cx="309067" cy="30906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3796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Accounting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53796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2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do?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6537960" y="27889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 and logs record who accessed or changed what, and when.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is mainly the authorization step, but it is only as strong as the authentication in front of 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 Models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in DBMS  |  Woxsen University, School of Technology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32004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1920240" cy="8686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DAC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19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402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of an object decides who gets access, using GRANT and REVOKE.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11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40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Oracle, MySQL, PostgreSQL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1188720"/>
            <a:ext cx="1920240" cy="32004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188720"/>
            <a:ext cx="1920240" cy="8686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1719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22402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enforces rules using security labels: clearance vs classification.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3611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840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Military, government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1920240" cy="32004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188720"/>
            <a:ext cx="1920240" cy="8686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1719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2402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Privileges attach to roles; users are assigned roles to get access.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611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840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Enterprises, universities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66560" y="1188720"/>
            <a:ext cx="1920240" cy="32004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1188720"/>
            <a:ext cx="1920240" cy="8686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4944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ABAC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1719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Attribute-Based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22402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evaluate attributes of the user, the data and the context.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3611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3840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fine-grained rules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Discretionary Access Control (DAC)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in DBMS  |  Woxsen University, School of Technology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0F1A30"/>
          </a:solidFill>
          <a:ln w="12700">
            <a:solidFill>
              <a:srgbClr val="0F1A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258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4592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(marks)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teacher1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OPTION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teacher1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CASCADE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118872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129844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08076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178308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creator of an object owns it and holds all privileges on 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gives privileges to users or roles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GRANT OPTION lets the grantee pass the privilege 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withdraws it; CASCADE follows the chain of grants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Privileges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in DBMS  |  Woxsen University, School of Technology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492301"/>
            <a:ext cx="261518" cy="26151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371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privileges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116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SESSION, CREATE TABLE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USER, CREATE ROLE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ANY TABLE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by DBAs; control the database as a whole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09160" y="118872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37760" y="137160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61" y="149230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1371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privileges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0116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INSERT, UPDATE, DELETE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REFERENCES, ALTER, EXECUTE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a table, view or procedure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limited to specific columns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31520" y="3794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control: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UPDATE(marks) ON Student TO teacher1;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Access Matrix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in DBMS  |  Woxsen University, School of Technology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 \ Object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Audit_Log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W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W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W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(own)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(own)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65760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view = ACL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object, list who may access it.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365760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9204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view = Capability list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subject, list what they may access.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Privilege Propagation and Cascading REVOKE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in DBMS  |  Woxsen University, School of Technology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57400" y="1600200"/>
            <a:ext cx="548640" cy="0"/>
          </a:xfrm>
          <a:prstGeom prst="line">
            <a:avLst/>
          </a:prstGeom>
          <a:noFill/>
          <a:ln w="28575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51760" y="11887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F3358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188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grant option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1600200"/>
            <a:ext cx="548640" cy="0"/>
          </a:xfrm>
          <a:prstGeom prst="line">
            <a:avLst/>
          </a:prstGeom>
          <a:noFill/>
          <a:ln w="28575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46320" y="11887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F3358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188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grant option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46520" y="1600200"/>
            <a:ext cx="548640" cy="0"/>
          </a:xfrm>
          <a:prstGeom prst="line">
            <a:avLst/>
          </a:prstGeom>
          <a:noFill/>
          <a:ln w="28575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40880" y="11887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F3358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1188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grant option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SELECT ON Emp ... WITH GRANT OPTION passes down the chain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51760" y="2514600"/>
            <a:ext cx="6035040" cy="640080"/>
          </a:xfrm>
          <a:prstGeom prst="roundRect">
            <a:avLst>
              <a:gd name="adj" fmla="val 11429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34640" y="25146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SELECT ON Emp FROM A CASCADE;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 and C all lose the privilege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4290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vs RESTRICT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refuses the revoke if other users still depend on the privilege.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342900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34290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grants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 also received the privilege from another grantor, B keeps it.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Mandatory Access Control (MAC)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in DBMS  |  Woxsen University, School of Technology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91640" y="1188720"/>
            <a:ext cx="1828800" cy="5943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91640" y="1188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Secret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25880" y="1874520"/>
            <a:ext cx="2560320" cy="594360"/>
          </a:xfrm>
          <a:prstGeom prst="rect">
            <a:avLst/>
          </a:prstGeom>
          <a:solidFill>
            <a:srgbClr val="2B4470"/>
          </a:solidFill>
          <a:ln w="12700">
            <a:solidFill>
              <a:srgbClr val="2B44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18745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560320"/>
            <a:ext cx="3291840" cy="594360"/>
          </a:xfrm>
          <a:prstGeom prst="rect">
            <a:avLst/>
          </a:prstGeom>
          <a:solidFill>
            <a:srgbClr val="5B7BB0"/>
          </a:solidFill>
          <a:ln w="12700">
            <a:solidFill>
              <a:srgbClr val="5B7B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560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46120"/>
            <a:ext cx="4023360" cy="594360"/>
          </a:xfrm>
          <a:prstGeom prst="rect">
            <a:avLst/>
          </a:prstGeom>
          <a:solidFill>
            <a:srgbClr val="BFD0EA"/>
          </a:solidFill>
          <a:ln w="12700">
            <a:solidFill>
              <a:srgbClr val="BFD0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2461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023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subject has a clearance; each object has a classification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18872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37160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08" y="1481328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8064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security: no read up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806440" y="1645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 if clearance is at least the object's classification.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0" y="274320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212080" y="292608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3035808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80644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*-property: no write down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5806440" y="3200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only to objects at or above your level, so secrets cannot leak downward.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502920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Bell-LaPadula protects confidentiality; the Biba model protects integrity.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Control (RBAC)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in DBMS  |  Woxsen University, School of Technology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097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097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554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155448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554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student_role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155448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554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own marks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97480" y="1851660"/>
            <a:ext cx="731520" cy="0"/>
          </a:xfrm>
          <a:prstGeom prst="line">
            <a:avLst/>
          </a:prstGeom>
          <a:noFill/>
          <a:ln w="28575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15000" y="1851660"/>
            <a:ext cx="731520" cy="0"/>
          </a:xfrm>
          <a:prstGeom prst="line">
            <a:avLst/>
          </a:prstGeom>
          <a:noFill/>
          <a:ln w="28575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233172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331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0" y="233172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720" y="2331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faculty_role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233172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23317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UPDATE on Marks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97480" y="2628900"/>
            <a:ext cx="731520" cy="0"/>
          </a:xfrm>
          <a:prstGeom prst="line">
            <a:avLst/>
          </a:prstGeom>
          <a:noFill/>
          <a:ln w="28575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715000" y="2628900"/>
            <a:ext cx="731520" cy="0"/>
          </a:xfrm>
          <a:prstGeom prst="line">
            <a:avLst/>
          </a:prstGeom>
          <a:noFill/>
          <a:ln w="28575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" y="310896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108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Meena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74720" y="310896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74720" y="3108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admin_role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92240" y="310896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37960" y="3108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DROP tables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97480" y="3406140"/>
            <a:ext cx="731520" cy="0"/>
          </a:xfrm>
          <a:prstGeom prst="line">
            <a:avLst/>
          </a:prstGeom>
          <a:noFill/>
          <a:ln w="28575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715000" y="3406140"/>
            <a:ext cx="731520" cy="0"/>
          </a:xfrm>
          <a:prstGeom prst="line">
            <a:avLst/>
          </a:prstGeom>
          <a:noFill/>
          <a:ln w="28575">
            <a:solidFill>
              <a:srgbClr val="FCA31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roles, not individual privileges. Change of job means change of role.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 in SQL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in DBMS  |  Woxsen University, School of Technology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0F1A30"/>
          </a:solidFill>
          <a:ln w="12700">
            <a:solidFill>
              <a:srgbClr val="0F1A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258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4592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faculty_role;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Marks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faculty_role;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faculty_role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teacher1;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faculty_role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teacher1;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118872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129844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08076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roles?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178308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administration for large user bases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least privilege by design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separation of duties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audit: who holds which role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 for Fine-Grained Control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in DBMS  |  Woxsen University, School of Technology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0F1A30"/>
          </a:solidFill>
          <a:ln w="12700">
            <a:solidFill>
              <a:srgbClr val="0F1A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258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4592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My_Marks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course, marks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Marks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student_id = CURRENT_USER;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My_Marks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student_role;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118872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129844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08076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achieves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178308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sensitive columns and other students' rows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query the view, never the base table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control, not just object-based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(e.g. PostgreSQL policies, Oracle VPD) automates this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Models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in DBMS  |  Woxsen University, School of Technology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00200"/>
                <a:gridCol w="1600200"/>
                <a:gridCol w="1691640"/>
                <a:gridCol w="17830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policy and labels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via 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on attributes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Decentralised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Centralised 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DBMS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Military, government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Enterprises, universities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Cloud, dynamic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often combine models, for example RBAC on top of DAC privileges.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 and Best Practices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in DBMS  |  Woxsen University, School of Technology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492301"/>
            <a:ext cx="261518" cy="26151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371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threats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1031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or stale privileges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or shared credentials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misuse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37760" y="137160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61" y="149230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1371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1031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privilege review and revoke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and monitoring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in DBMS  |  Woxsen University, School of Technology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1887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DAC and MAC with one example of each.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2860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grants SELECT on Emp to B with grant option; B grants it to C. What happens to C when A runs REVOKE ... FROM B CASCADE?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832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SQL so that each student can see only their own marks.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F3358"/>
          </a:solidFill>
          <a:ln w="12700">
            <a:solidFill>
              <a:srgbClr val="1F33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decides who can do what on which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F3358"/>
          </a:solidFill>
          <a:ln w="12700">
            <a:solidFill>
              <a:srgbClr val="1F33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a model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783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is flexible, MAC is strict, RBAC scales, ABAC is expressive.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F3358"/>
          </a:solidFill>
          <a:ln w="12700">
            <a:solidFill>
              <a:srgbClr val="1F33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97180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SQL tools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GRANT, REVOKE, roles and views enforce the policy.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F3358"/>
          </a:solidFill>
          <a:ln w="12700">
            <a:solidFill>
              <a:srgbClr val="1F33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297180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minimal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regular audits and safe queries reduce risk.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 Control in DBMS</dc:title>
  <dc:subject>PptxGenJS Presentation</dc:subject>
  <dc:creator>Dr. Kiran Mayee Adavala</dc:creator>
  <cp:lastModifiedBy>Dr. Kiran Mayee Adavala</cp:lastModifiedBy>
  <cp:revision>1</cp:revision>
  <dcterms:created xsi:type="dcterms:W3CDTF">2026-09-21T04:40:11Z</dcterms:created>
  <dcterms:modified xsi:type="dcterms:W3CDTF">2026-09-21T04:40:11Z</dcterms:modified>
</cp:coreProperties>
</file>